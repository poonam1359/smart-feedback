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2.xml" ContentType="application/vnd.openxmlformats-officedocument.theme+xml"/>
  <Override PartName="/ppt/tags/tag5.xml" ContentType="application/vnd.openxmlformats-officedocument.presentationml.tags+xml"/>
  <Override PartName="/ppt/notesSlides/notesSlide1.xml" ContentType="application/vnd.openxmlformats-officedocument.presentationml.notesSlide+xml"/>
  <Override PartName="/ppt/tags/tag6.xml" ContentType="application/vnd.openxmlformats-officedocument.presentationml.tags+xml"/>
  <Override PartName="/ppt/notesSlides/notesSlide2.xml" ContentType="application/vnd.openxmlformats-officedocument.presentationml.notesSlide+xml"/>
  <Override PartName="/ppt/tags/tag7.xml" ContentType="application/vnd.openxmlformats-officedocument.presentationml.tags+xml"/>
  <Override PartName="/ppt/notesSlides/notesSlide3.xml" ContentType="application/vnd.openxmlformats-officedocument.presentationml.notesSlide+xml"/>
  <Override PartName="/ppt/tags/tag8.xml" ContentType="application/vnd.openxmlformats-officedocument.presentationml.tags+xml"/>
  <Override PartName="/ppt/notesSlides/notesSlide4.xml" ContentType="application/vnd.openxmlformats-officedocument.presentationml.notesSlide+xml"/>
  <Override PartName="/ppt/tags/tag9.xml" ContentType="application/vnd.openxmlformats-officedocument.presentationml.tags+xml"/>
  <Override PartName="/ppt/notesSlides/notesSlide5.xml" ContentType="application/vnd.openxmlformats-officedocument.presentationml.notesSlide+xml"/>
  <Override PartName="/ppt/tags/tag10.xml" ContentType="application/vnd.openxmlformats-officedocument.presentationml.tags+xml"/>
  <Override PartName="/ppt/notesSlides/notesSlide6.xml" ContentType="application/vnd.openxmlformats-officedocument.presentationml.notesSlide+xml"/>
  <Override PartName="/ppt/tags/tag11.xml" ContentType="application/vnd.openxmlformats-officedocument.presentationml.tags+xml"/>
  <Override PartName="/ppt/notesSlides/notesSlide7.xml" ContentType="application/vnd.openxmlformats-officedocument.presentationml.notesSlide+xml"/>
  <Override PartName="/ppt/tags/tag12.xml" ContentType="application/vnd.openxmlformats-officedocument.presentationml.tags+xml"/>
  <Override PartName="/ppt/notesSlides/notesSlide8.xml" ContentType="application/vnd.openxmlformats-officedocument.presentationml.notesSlide+xml"/>
  <Override PartName="/ppt/tags/tag13.xml" ContentType="application/vnd.openxmlformats-officedocument.presentationml.tags+xml"/>
  <Override PartName="/ppt/notesSlides/notesSlide9.xml" ContentType="application/vnd.openxmlformats-officedocument.presentationml.notesSlide+xml"/>
  <Override PartName="/ppt/tags/tag14.xml" ContentType="application/vnd.openxmlformats-officedocument.presentationml.tags+xml"/>
  <Override PartName="/ppt/notesSlides/notesSlide10.xml" ContentType="application/vnd.openxmlformats-officedocument.presentationml.notesSlide+xml"/>
  <Override PartName="/ppt/tags/tag15.xml" ContentType="application/vnd.openxmlformats-officedocument.presentationml.tags+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68"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custDataLst>
    <p:tags r:id="rId14"/>
  </p:custData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12" userDrawn="1">
          <p15:clr>
            <a:srgbClr val="A4A3A4"/>
          </p15:clr>
        </p15:guide>
        <p15:guide id="2" orient="horz" pos="852" userDrawn="1">
          <p15:clr>
            <a:srgbClr val="A4A3A4"/>
          </p15:clr>
        </p15:guide>
        <p15:guide id="3" pos="14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F3ED"/>
    <a:srgbClr val="CEE3FA"/>
    <a:srgbClr val="1565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1158" autoAdjust="0"/>
  </p:normalViewPr>
  <p:slideViewPr>
    <p:cSldViewPr snapToGrid="0" snapToObjects="1">
      <p:cViewPr varScale="1">
        <p:scale>
          <a:sx n="99" d="100"/>
          <a:sy n="99" d="100"/>
        </p:scale>
        <p:origin x="994" y="206"/>
      </p:cViewPr>
      <p:guideLst>
        <p:guide orient="horz" pos="612"/>
        <p:guide orient="horz" pos="852"/>
        <p:guide pos="14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06544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6B537A-B4DE-D1CE-3512-BCBDE4AC70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8C2033-F357-E6BE-5BF1-877BC1AD1B3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9A567B0F-4F1D-ECFE-050E-B551ABF85EAD}"/>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6398896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ustDataLst>
      <p:tags r:id="rId1"/>
    </p:custData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265203801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 name="Group 8">
            <a:extLst>
              <a:ext uri="{FF2B5EF4-FFF2-40B4-BE49-F238E27FC236}">
                <a16:creationId xmlns:a16="http://schemas.microsoft.com/office/drawing/2014/main" id="{A68FA2BF-9B6A-948D-43A3-04C207F5B33C}"/>
              </a:ext>
            </a:extLst>
          </p:cNvPr>
          <p:cNvGrpSpPr/>
          <p:nvPr userDrawn="1"/>
        </p:nvGrpSpPr>
        <p:grpSpPr>
          <a:xfrm flipH="1">
            <a:off x="0" y="5036127"/>
            <a:ext cx="9144000" cy="107373"/>
            <a:chOff x="0" y="0"/>
            <a:chExt cx="4402382" cy="66464"/>
          </a:xfrm>
        </p:grpSpPr>
        <p:sp>
          <p:nvSpPr>
            <p:cNvPr id="3" name="Freeform 9">
              <a:extLst>
                <a:ext uri="{FF2B5EF4-FFF2-40B4-BE49-F238E27FC236}">
                  <a16:creationId xmlns:a16="http://schemas.microsoft.com/office/drawing/2014/main" id="{8B83B97F-BA22-827B-E1BD-8DD9E1D3E0F6}"/>
                </a:ext>
              </a:extLst>
            </p:cNvPr>
            <p:cNvSpPr/>
            <p:nvPr/>
          </p:nvSpPr>
          <p:spPr>
            <a:xfrm>
              <a:off x="0" y="0"/>
              <a:ext cx="4402382" cy="66464"/>
            </a:xfrm>
            <a:custGeom>
              <a:avLst/>
              <a:gdLst/>
              <a:ahLst/>
              <a:cxnLst/>
              <a:rect l="l" t="t" r="r" b="b"/>
              <a:pathLst>
                <a:path w="4402382" h="66464">
                  <a:moveTo>
                    <a:pt x="0" y="0"/>
                  </a:moveTo>
                  <a:lnTo>
                    <a:pt x="4402382" y="0"/>
                  </a:lnTo>
                  <a:lnTo>
                    <a:pt x="44023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a:p>
          </p:txBody>
        </p:sp>
        <p:sp>
          <p:nvSpPr>
            <p:cNvPr id="4" name="TextBox 10">
              <a:extLst>
                <a:ext uri="{FF2B5EF4-FFF2-40B4-BE49-F238E27FC236}">
                  <a16:creationId xmlns:a16="http://schemas.microsoft.com/office/drawing/2014/main" id="{FC94FAC8-E161-FF7D-84BF-C498EADA502D}"/>
                </a:ext>
              </a:extLst>
            </p:cNvPr>
            <p:cNvSpPr txBox="1"/>
            <p:nvPr/>
          </p:nvSpPr>
          <p:spPr>
            <a:xfrm>
              <a:off x="0" y="-38100"/>
              <a:ext cx="4402382" cy="104564"/>
            </a:xfrm>
            <a:prstGeom prst="rect">
              <a:avLst/>
            </a:prstGeom>
          </p:spPr>
          <p:txBody>
            <a:bodyPr lIns="50800" tIns="50800" rIns="50800" bIns="50800" rtlCol="0" anchor="ctr"/>
            <a:lstStyle/>
            <a:p>
              <a:pPr algn="ctr">
                <a:lnSpc>
                  <a:spcPts val="2659"/>
                </a:lnSpc>
              </a:pPr>
              <a:endParaRPr/>
            </a:p>
          </p:txBody>
        </p:sp>
      </p:grpSp>
      <p:grpSp>
        <p:nvGrpSpPr>
          <p:cNvPr id="5" name="Group 8">
            <a:extLst>
              <a:ext uri="{FF2B5EF4-FFF2-40B4-BE49-F238E27FC236}">
                <a16:creationId xmlns:a16="http://schemas.microsoft.com/office/drawing/2014/main" id="{1988876B-43B4-642F-AB10-8B137A34386D}"/>
              </a:ext>
            </a:extLst>
          </p:cNvPr>
          <p:cNvGrpSpPr/>
          <p:nvPr userDrawn="1"/>
        </p:nvGrpSpPr>
        <p:grpSpPr>
          <a:xfrm>
            <a:off x="0" y="0"/>
            <a:ext cx="9144000" cy="424206"/>
            <a:chOff x="0" y="0"/>
            <a:chExt cx="4402382" cy="66464"/>
          </a:xfrm>
        </p:grpSpPr>
        <p:sp>
          <p:nvSpPr>
            <p:cNvPr id="6" name="Freeform 9">
              <a:extLst>
                <a:ext uri="{FF2B5EF4-FFF2-40B4-BE49-F238E27FC236}">
                  <a16:creationId xmlns:a16="http://schemas.microsoft.com/office/drawing/2014/main" id="{613EFC18-F90F-C121-3F09-53AB8141D658}"/>
                </a:ext>
              </a:extLst>
            </p:cNvPr>
            <p:cNvSpPr/>
            <p:nvPr/>
          </p:nvSpPr>
          <p:spPr>
            <a:xfrm>
              <a:off x="0" y="0"/>
              <a:ext cx="4402382" cy="66464"/>
            </a:xfrm>
            <a:custGeom>
              <a:avLst/>
              <a:gdLst/>
              <a:ahLst/>
              <a:cxnLst/>
              <a:rect l="l" t="t" r="r" b="b"/>
              <a:pathLst>
                <a:path w="4402382" h="66464">
                  <a:moveTo>
                    <a:pt x="0" y="0"/>
                  </a:moveTo>
                  <a:lnTo>
                    <a:pt x="4402382" y="0"/>
                  </a:lnTo>
                  <a:lnTo>
                    <a:pt x="44023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a:p>
          </p:txBody>
        </p:sp>
        <p:sp>
          <p:nvSpPr>
            <p:cNvPr id="7" name="TextBox 10">
              <a:extLst>
                <a:ext uri="{FF2B5EF4-FFF2-40B4-BE49-F238E27FC236}">
                  <a16:creationId xmlns:a16="http://schemas.microsoft.com/office/drawing/2014/main" id="{D81422F7-8BE4-EC53-5307-9812E24315C1}"/>
                </a:ext>
              </a:extLst>
            </p:cNvPr>
            <p:cNvSpPr txBox="1"/>
            <p:nvPr/>
          </p:nvSpPr>
          <p:spPr>
            <a:xfrm>
              <a:off x="0" y="-38100"/>
              <a:ext cx="4402382" cy="104564"/>
            </a:xfrm>
            <a:prstGeom prst="rect">
              <a:avLst/>
            </a:prstGeom>
          </p:spPr>
          <p:txBody>
            <a:bodyPr lIns="50800" tIns="50800" rIns="50800" bIns="50800" rtlCol="0" anchor="ctr"/>
            <a:lstStyle/>
            <a:p>
              <a:pPr algn="ctr">
                <a:lnSpc>
                  <a:spcPts val="2659"/>
                </a:lnSpc>
              </a:pPr>
              <a:endParaRPr/>
            </a:p>
          </p:txBody>
        </p:sp>
      </p:grpSp>
      <p:pic>
        <p:nvPicPr>
          <p:cNvPr id="8" name="Picture 7" descr="A black and white logo&#10;&#10;AI-generated content may be incorrect.">
            <a:extLst>
              <a:ext uri="{FF2B5EF4-FFF2-40B4-BE49-F238E27FC236}">
                <a16:creationId xmlns:a16="http://schemas.microsoft.com/office/drawing/2014/main" id="{31AC86FC-94F1-13A5-98FD-3215960D2A05}"/>
              </a:ext>
            </a:extLst>
          </p:cNvPr>
          <p:cNvPicPr>
            <a:picLocks noChangeAspect="1"/>
          </p:cNvPicPr>
          <p:nvPr userDrawn="1"/>
        </p:nvPicPr>
        <p:blipFill>
          <a:blip r:embed="rId5"/>
          <a:stretch>
            <a:fillRect/>
          </a:stretch>
        </p:blipFill>
        <p:spPr>
          <a:xfrm>
            <a:off x="7820696" y="55166"/>
            <a:ext cx="965086" cy="313873"/>
          </a:xfrm>
          <a:prstGeom prst="rect">
            <a:avLst/>
          </a:prstGeom>
        </p:spPr>
      </p:pic>
    </p:spTree>
    <p:custDataLst>
      <p:tags r:id="rId4"/>
    </p:custDataLst>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notesSlide" Target="../notesSlides/notesSlide1.xml"/><Relationship Id="rId7" Type="http://schemas.openxmlformats.org/officeDocument/2006/relationships/image" Target="../media/image5.png"/><Relationship Id="rId2" Type="http://schemas.openxmlformats.org/officeDocument/2006/relationships/slideLayout" Target="../slideLayouts/slideLayout2.xml"/><Relationship Id="rId1" Type="http://schemas.openxmlformats.org/officeDocument/2006/relationships/tags" Target="../tags/tag5.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sv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6.xml"/><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tags" Target="../tags/tag7.xml"/><Relationship Id="rId4" Type="http://schemas.openxmlformats.org/officeDocument/2006/relationships/image" Target="../media/image9.sv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tags" Target="../tags/tag8.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tags" Target="../tags/tag9.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tags" Target="../tags/tag10.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tags" Target="../tags/tag1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tags" Target="../tags/tag12.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tags" Target="../tags/tag13.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tags" Target="../tags/tag14.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tags" Target="../tags/tag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E219A4-F5CF-3B84-A831-006143830DFC}"/>
            </a:ext>
          </a:extLst>
        </p:cNvPr>
        <p:cNvGrpSpPr/>
        <p:nvPr/>
      </p:nvGrpSpPr>
      <p:grpSpPr>
        <a:xfrm>
          <a:off x="0" y="0"/>
          <a:ext cx="0" cy="0"/>
          <a:chOff x="0" y="0"/>
          <a:chExt cx="0" cy="0"/>
        </a:xfrm>
      </p:grpSpPr>
      <p:sp>
        <p:nvSpPr>
          <p:cNvPr id="75" name="Rectangle: Rounded Corners 74">
            <a:extLst>
              <a:ext uri="{FF2B5EF4-FFF2-40B4-BE49-F238E27FC236}">
                <a16:creationId xmlns:a16="http://schemas.microsoft.com/office/drawing/2014/main" id="{5BBAA9FE-14A6-3635-BDE0-21E75B60255D}"/>
              </a:ext>
            </a:extLst>
          </p:cNvPr>
          <p:cNvSpPr/>
          <p:nvPr/>
        </p:nvSpPr>
        <p:spPr>
          <a:xfrm>
            <a:off x="364882" y="652908"/>
            <a:ext cx="3603333" cy="485021"/>
          </a:xfrm>
          <a:prstGeom prst="roundRect">
            <a:avLst/>
          </a:prstGeom>
          <a:solidFill>
            <a:schemeClr val="bg1"/>
          </a:solidFill>
          <a:ln>
            <a:solidFill>
              <a:srgbClr val="1D63B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2" name="Group 2">
            <a:extLst>
              <a:ext uri="{FF2B5EF4-FFF2-40B4-BE49-F238E27FC236}">
                <a16:creationId xmlns:a16="http://schemas.microsoft.com/office/drawing/2014/main" id="{DC713F69-E6DD-B345-33D3-499B008F7A17}"/>
              </a:ext>
            </a:extLst>
          </p:cNvPr>
          <p:cNvGrpSpPr/>
          <p:nvPr/>
        </p:nvGrpSpPr>
        <p:grpSpPr>
          <a:xfrm>
            <a:off x="0" y="0"/>
            <a:ext cx="4153368" cy="126178"/>
            <a:chOff x="0" y="0"/>
            <a:chExt cx="2187782" cy="66464"/>
          </a:xfrm>
        </p:grpSpPr>
        <p:sp>
          <p:nvSpPr>
            <p:cNvPr id="3" name="Freeform 3">
              <a:extLst>
                <a:ext uri="{FF2B5EF4-FFF2-40B4-BE49-F238E27FC236}">
                  <a16:creationId xmlns:a16="http://schemas.microsoft.com/office/drawing/2014/main" id="{16F12EA0-AE27-85D3-96E6-BED52A471BC9}"/>
                </a:ext>
              </a:extLst>
            </p:cNvPr>
            <p:cNvSpPr/>
            <p:nvPr/>
          </p:nvSpPr>
          <p:spPr>
            <a:xfrm>
              <a:off x="0" y="0"/>
              <a:ext cx="2187782" cy="66464"/>
            </a:xfrm>
            <a:custGeom>
              <a:avLst/>
              <a:gdLst/>
              <a:ahLst/>
              <a:cxnLst/>
              <a:rect l="l" t="t" r="r" b="b"/>
              <a:pathLst>
                <a:path w="2187782" h="66464">
                  <a:moveTo>
                    <a:pt x="0" y="0"/>
                  </a:moveTo>
                  <a:lnTo>
                    <a:pt x="2187782" y="0"/>
                  </a:lnTo>
                  <a:lnTo>
                    <a:pt x="21877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4" name="TextBox 4">
              <a:extLst>
                <a:ext uri="{FF2B5EF4-FFF2-40B4-BE49-F238E27FC236}">
                  <a16:creationId xmlns:a16="http://schemas.microsoft.com/office/drawing/2014/main" id="{EEDED881-7208-D373-6128-A08573FEEA11}"/>
                </a:ext>
              </a:extLst>
            </p:cNvPr>
            <p:cNvSpPr txBox="1"/>
            <p:nvPr/>
          </p:nvSpPr>
          <p:spPr>
            <a:xfrm>
              <a:off x="0" y="-38100"/>
              <a:ext cx="2187782" cy="104564"/>
            </a:xfrm>
            <a:prstGeom prst="rect">
              <a:avLst/>
            </a:prstGeom>
          </p:spPr>
          <p:txBody>
            <a:bodyPr lIns="25400" tIns="25400" rIns="25400" bIns="25400" rtlCol="0" anchor="ctr"/>
            <a:lstStyle/>
            <a:p>
              <a:pPr algn="ctr">
                <a:lnSpc>
                  <a:spcPts val="1330"/>
                </a:lnSpc>
              </a:pPr>
              <a:endParaRPr sz="700"/>
            </a:p>
          </p:txBody>
        </p:sp>
      </p:grpSp>
      <p:grpSp>
        <p:nvGrpSpPr>
          <p:cNvPr id="5" name="Group 5">
            <a:extLst>
              <a:ext uri="{FF2B5EF4-FFF2-40B4-BE49-F238E27FC236}">
                <a16:creationId xmlns:a16="http://schemas.microsoft.com/office/drawing/2014/main" id="{071C7EC6-7D4C-F061-CDE0-6A50914ECB9E}"/>
              </a:ext>
            </a:extLst>
          </p:cNvPr>
          <p:cNvGrpSpPr/>
          <p:nvPr/>
        </p:nvGrpSpPr>
        <p:grpSpPr>
          <a:xfrm>
            <a:off x="0" y="5017322"/>
            <a:ext cx="7571294" cy="126178"/>
            <a:chOff x="0" y="0"/>
            <a:chExt cx="3988171" cy="66464"/>
          </a:xfrm>
        </p:grpSpPr>
        <p:sp>
          <p:nvSpPr>
            <p:cNvPr id="6" name="Freeform 6">
              <a:extLst>
                <a:ext uri="{FF2B5EF4-FFF2-40B4-BE49-F238E27FC236}">
                  <a16:creationId xmlns:a16="http://schemas.microsoft.com/office/drawing/2014/main" id="{B4AD79D7-46FD-6B0C-7DE4-FF78018F4A88}"/>
                </a:ext>
              </a:extLst>
            </p:cNvPr>
            <p:cNvSpPr/>
            <p:nvPr/>
          </p:nvSpPr>
          <p:spPr>
            <a:xfrm>
              <a:off x="0" y="0"/>
              <a:ext cx="3988171" cy="66464"/>
            </a:xfrm>
            <a:custGeom>
              <a:avLst/>
              <a:gdLst/>
              <a:ahLst/>
              <a:cxnLst/>
              <a:rect l="l" t="t" r="r" b="b"/>
              <a:pathLst>
                <a:path w="3988171" h="66464">
                  <a:moveTo>
                    <a:pt x="0" y="0"/>
                  </a:moveTo>
                  <a:lnTo>
                    <a:pt x="3988171" y="0"/>
                  </a:lnTo>
                  <a:lnTo>
                    <a:pt x="3988171"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7" name="TextBox 7">
              <a:extLst>
                <a:ext uri="{FF2B5EF4-FFF2-40B4-BE49-F238E27FC236}">
                  <a16:creationId xmlns:a16="http://schemas.microsoft.com/office/drawing/2014/main" id="{C396E051-FCE8-96D0-093A-9DAA0B6CA32C}"/>
                </a:ext>
              </a:extLst>
            </p:cNvPr>
            <p:cNvSpPr txBox="1"/>
            <p:nvPr/>
          </p:nvSpPr>
          <p:spPr>
            <a:xfrm>
              <a:off x="0" y="-38100"/>
              <a:ext cx="3988171" cy="104564"/>
            </a:xfrm>
            <a:prstGeom prst="rect">
              <a:avLst/>
            </a:prstGeom>
          </p:spPr>
          <p:txBody>
            <a:bodyPr lIns="25400" tIns="25400" rIns="25400" bIns="25400" rtlCol="0" anchor="ctr"/>
            <a:lstStyle/>
            <a:p>
              <a:pPr algn="ctr">
                <a:lnSpc>
                  <a:spcPts val="1330"/>
                </a:lnSpc>
              </a:pPr>
              <a:endParaRPr sz="700"/>
            </a:p>
          </p:txBody>
        </p:sp>
      </p:grpSp>
      <p:grpSp>
        <p:nvGrpSpPr>
          <p:cNvPr id="8" name="Group 8">
            <a:extLst>
              <a:ext uri="{FF2B5EF4-FFF2-40B4-BE49-F238E27FC236}">
                <a16:creationId xmlns:a16="http://schemas.microsoft.com/office/drawing/2014/main" id="{614E0FB1-7343-AA0B-7107-6EF9941BD391}"/>
              </a:ext>
            </a:extLst>
          </p:cNvPr>
          <p:cNvGrpSpPr/>
          <p:nvPr/>
        </p:nvGrpSpPr>
        <p:grpSpPr>
          <a:xfrm rot="2700000">
            <a:off x="3661769" y="-528997"/>
            <a:ext cx="4602320" cy="2123257"/>
            <a:chOff x="0" y="0"/>
            <a:chExt cx="2424267" cy="1118423"/>
          </a:xfrm>
        </p:grpSpPr>
        <p:sp>
          <p:nvSpPr>
            <p:cNvPr id="9" name="Freeform 9">
              <a:extLst>
                <a:ext uri="{FF2B5EF4-FFF2-40B4-BE49-F238E27FC236}">
                  <a16:creationId xmlns:a16="http://schemas.microsoft.com/office/drawing/2014/main" id="{8AFFC971-D518-DC63-82CA-066EEEE8BD9D}"/>
                </a:ext>
              </a:extLst>
            </p:cNvPr>
            <p:cNvSpPr/>
            <p:nvPr/>
          </p:nvSpPr>
          <p:spPr>
            <a:xfrm>
              <a:off x="0" y="0"/>
              <a:ext cx="2424267" cy="1118423"/>
            </a:xfrm>
            <a:custGeom>
              <a:avLst/>
              <a:gdLst/>
              <a:ahLst/>
              <a:cxnLst/>
              <a:rect l="l" t="t" r="r" b="b"/>
              <a:pathLst>
                <a:path w="2424267" h="1118423">
                  <a:moveTo>
                    <a:pt x="0" y="0"/>
                  </a:moveTo>
                  <a:lnTo>
                    <a:pt x="2424267" y="0"/>
                  </a:lnTo>
                  <a:lnTo>
                    <a:pt x="2424267" y="1118423"/>
                  </a:lnTo>
                  <a:lnTo>
                    <a:pt x="0" y="1118423"/>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0" name="TextBox 10">
              <a:extLst>
                <a:ext uri="{FF2B5EF4-FFF2-40B4-BE49-F238E27FC236}">
                  <a16:creationId xmlns:a16="http://schemas.microsoft.com/office/drawing/2014/main" id="{EF1F892B-32CB-D20F-CD5E-29D9DD282E0B}"/>
                </a:ext>
              </a:extLst>
            </p:cNvPr>
            <p:cNvSpPr txBox="1"/>
            <p:nvPr/>
          </p:nvSpPr>
          <p:spPr>
            <a:xfrm>
              <a:off x="0" y="-38100"/>
              <a:ext cx="2424267" cy="1156523"/>
            </a:xfrm>
            <a:prstGeom prst="rect">
              <a:avLst/>
            </a:prstGeom>
          </p:spPr>
          <p:txBody>
            <a:bodyPr lIns="25400" tIns="25400" rIns="25400" bIns="25400" rtlCol="0" anchor="ctr"/>
            <a:lstStyle/>
            <a:p>
              <a:pPr algn="ctr">
                <a:lnSpc>
                  <a:spcPts val="1330"/>
                </a:lnSpc>
              </a:pPr>
              <a:endParaRPr sz="700"/>
            </a:p>
          </p:txBody>
        </p:sp>
      </p:grpSp>
      <p:grpSp>
        <p:nvGrpSpPr>
          <p:cNvPr id="11" name="Group 11">
            <a:extLst>
              <a:ext uri="{FF2B5EF4-FFF2-40B4-BE49-F238E27FC236}">
                <a16:creationId xmlns:a16="http://schemas.microsoft.com/office/drawing/2014/main" id="{0903312A-41E4-0C98-DB5C-2FD31C761F00}"/>
              </a:ext>
            </a:extLst>
          </p:cNvPr>
          <p:cNvGrpSpPr/>
          <p:nvPr/>
        </p:nvGrpSpPr>
        <p:grpSpPr>
          <a:xfrm rot="2700000">
            <a:off x="5632358" y="303921"/>
            <a:ext cx="3724082" cy="1064394"/>
            <a:chOff x="0" y="0"/>
            <a:chExt cx="1961656" cy="560668"/>
          </a:xfrm>
        </p:grpSpPr>
        <p:sp>
          <p:nvSpPr>
            <p:cNvPr id="12" name="Freeform 12">
              <a:extLst>
                <a:ext uri="{FF2B5EF4-FFF2-40B4-BE49-F238E27FC236}">
                  <a16:creationId xmlns:a16="http://schemas.microsoft.com/office/drawing/2014/main" id="{A8440D19-D63B-AF33-3EAE-F2B37D5CF256}"/>
                </a:ext>
              </a:extLst>
            </p:cNvPr>
            <p:cNvSpPr/>
            <p:nvPr/>
          </p:nvSpPr>
          <p:spPr>
            <a:xfrm>
              <a:off x="0" y="0"/>
              <a:ext cx="1961656" cy="560668"/>
            </a:xfrm>
            <a:custGeom>
              <a:avLst/>
              <a:gdLst/>
              <a:ahLst/>
              <a:cxnLst/>
              <a:rect l="l" t="t" r="r" b="b"/>
              <a:pathLst>
                <a:path w="1961656" h="560668">
                  <a:moveTo>
                    <a:pt x="0" y="0"/>
                  </a:moveTo>
                  <a:lnTo>
                    <a:pt x="1961656" y="0"/>
                  </a:lnTo>
                  <a:lnTo>
                    <a:pt x="1961656" y="560668"/>
                  </a:lnTo>
                  <a:lnTo>
                    <a:pt x="0" y="560668"/>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3" name="TextBox 13">
              <a:extLst>
                <a:ext uri="{FF2B5EF4-FFF2-40B4-BE49-F238E27FC236}">
                  <a16:creationId xmlns:a16="http://schemas.microsoft.com/office/drawing/2014/main" id="{70297523-D0C9-81EB-FA45-802E3E7D096A}"/>
                </a:ext>
              </a:extLst>
            </p:cNvPr>
            <p:cNvSpPr txBox="1"/>
            <p:nvPr/>
          </p:nvSpPr>
          <p:spPr>
            <a:xfrm>
              <a:off x="0" y="-38100"/>
              <a:ext cx="1961656" cy="598768"/>
            </a:xfrm>
            <a:prstGeom prst="rect">
              <a:avLst/>
            </a:prstGeom>
          </p:spPr>
          <p:txBody>
            <a:bodyPr lIns="25400" tIns="25400" rIns="25400" bIns="25400" rtlCol="0" anchor="ctr"/>
            <a:lstStyle/>
            <a:p>
              <a:pPr algn="ctr">
                <a:lnSpc>
                  <a:spcPts val="1330"/>
                </a:lnSpc>
              </a:pPr>
              <a:endParaRPr sz="700"/>
            </a:p>
          </p:txBody>
        </p:sp>
      </p:grpSp>
      <p:grpSp>
        <p:nvGrpSpPr>
          <p:cNvPr id="14" name="Group 14">
            <a:extLst>
              <a:ext uri="{FF2B5EF4-FFF2-40B4-BE49-F238E27FC236}">
                <a16:creationId xmlns:a16="http://schemas.microsoft.com/office/drawing/2014/main" id="{3AF039C7-166F-DC3C-FD40-F2CACE3926F2}"/>
              </a:ext>
            </a:extLst>
          </p:cNvPr>
          <p:cNvGrpSpPr/>
          <p:nvPr/>
        </p:nvGrpSpPr>
        <p:grpSpPr>
          <a:xfrm rot="2700000">
            <a:off x="7528217" y="-892816"/>
            <a:ext cx="2873959" cy="1967021"/>
            <a:chOff x="0" y="0"/>
            <a:chExt cx="1513855" cy="1036126"/>
          </a:xfrm>
        </p:grpSpPr>
        <p:sp>
          <p:nvSpPr>
            <p:cNvPr id="15" name="Freeform 15">
              <a:extLst>
                <a:ext uri="{FF2B5EF4-FFF2-40B4-BE49-F238E27FC236}">
                  <a16:creationId xmlns:a16="http://schemas.microsoft.com/office/drawing/2014/main" id="{166C2FB9-D184-461A-308A-1F6AFD5F7BBF}"/>
                </a:ext>
              </a:extLst>
            </p:cNvPr>
            <p:cNvSpPr/>
            <p:nvPr/>
          </p:nvSpPr>
          <p:spPr>
            <a:xfrm>
              <a:off x="0" y="0"/>
              <a:ext cx="1513855" cy="1036126"/>
            </a:xfrm>
            <a:custGeom>
              <a:avLst/>
              <a:gdLst/>
              <a:ahLst/>
              <a:cxnLst/>
              <a:rect l="l" t="t" r="r" b="b"/>
              <a:pathLst>
                <a:path w="1513855" h="1036126">
                  <a:moveTo>
                    <a:pt x="0" y="0"/>
                  </a:moveTo>
                  <a:lnTo>
                    <a:pt x="1513855" y="0"/>
                  </a:lnTo>
                  <a:lnTo>
                    <a:pt x="1513855" y="1036126"/>
                  </a:lnTo>
                  <a:lnTo>
                    <a:pt x="0" y="1036126"/>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6" name="TextBox 16">
              <a:extLst>
                <a:ext uri="{FF2B5EF4-FFF2-40B4-BE49-F238E27FC236}">
                  <a16:creationId xmlns:a16="http://schemas.microsoft.com/office/drawing/2014/main" id="{D78B5C6B-C409-CCBB-2B06-FBD31CAC99E4}"/>
                </a:ext>
              </a:extLst>
            </p:cNvPr>
            <p:cNvSpPr txBox="1"/>
            <p:nvPr/>
          </p:nvSpPr>
          <p:spPr>
            <a:xfrm>
              <a:off x="0" y="-38100"/>
              <a:ext cx="1513855" cy="1074226"/>
            </a:xfrm>
            <a:prstGeom prst="rect">
              <a:avLst/>
            </a:prstGeom>
          </p:spPr>
          <p:txBody>
            <a:bodyPr lIns="25400" tIns="25400" rIns="25400" bIns="25400" rtlCol="0" anchor="ctr"/>
            <a:lstStyle/>
            <a:p>
              <a:pPr algn="ctr">
                <a:lnSpc>
                  <a:spcPts val="1330"/>
                </a:lnSpc>
              </a:pPr>
              <a:endParaRPr sz="700"/>
            </a:p>
          </p:txBody>
        </p:sp>
      </p:grpSp>
      <p:grpSp>
        <p:nvGrpSpPr>
          <p:cNvPr id="17" name="Group 17">
            <a:extLst>
              <a:ext uri="{FF2B5EF4-FFF2-40B4-BE49-F238E27FC236}">
                <a16:creationId xmlns:a16="http://schemas.microsoft.com/office/drawing/2014/main" id="{BB6CD3B7-9C29-31B7-074F-1C8E56CB1626}"/>
              </a:ext>
            </a:extLst>
          </p:cNvPr>
          <p:cNvGrpSpPr/>
          <p:nvPr/>
        </p:nvGrpSpPr>
        <p:grpSpPr>
          <a:xfrm rot="2700000">
            <a:off x="6756840" y="4003698"/>
            <a:ext cx="4602320" cy="2123257"/>
            <a:chOff x="0" y="0"/>
            <a:chExt cx="2424267" cy="1118423"/>
          </a:xfrm>
        </p:grpSpPr>
        <p:sp>
          <p:nvSpPr>
            <p:cNvPr id="18" name="Freeform 18">
              <a:extLst>
                <a:ext uri="{FF2B5EF4-FFF2-40B4-BE49-F238E27FC236}">
                  <a16:creationId xmlns:a16="http://schemas.microsoft.com/office/drawing/2014/main" id="{059C69CD-FBFA-E4B4-AA86-445D5367D190}"/>
                </a:ext>
              </a:extLst>
            </p:cNvPr>
            <p:cNvSpPr/>
            <p:nvPr/>
          </p:nvSpPr>
          <p:spPr>
            <a:xfrm>
              <a:off x="0" y="0"/>
              <a:ext cx="2424267" cy="1118423"/>
            </a:xfrm>
            <a:custGeom>
              <a:avLst/>
              <a:gdLst/>
              <a:ahLst/>
              <a:cxnLst/>
              <a:rect l="l" t="t" r="r" b="b"/>
              <a:pathLst>
                <a:path w="2424267" h="1118423">
                  <a:moveTo>
                    <a:pt x="0" y="0"/>
                  </a:moveTo>
                  <a:lnTo>
                    <a:pt x="2424267" y="0"/>
                  </a:lnTo>
                  <a:lnTo>
                    <a:pt x="2424267" y="1118423"/>
                  </a:lnTo>
                  <a:lnTo>
                    <a:pt x="0" y="1118423"/>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9" name="TextBox 19">
              <a:extLst>
                <a:ext uri="{FF2B5EF4-FFF2-40B4-BE49-F238E27FC236}">
                  <a16:creationId xmlns:a16="http://schemas.microsoft.com/office/drawing/2014/main" id="{3FFFD043-6DDC-803C-1EE7-E745D2CD7192}"/>
                </a:ext>
              </a:extLst>
            </p:cNvPr>
            <p:cNvSpPr txBox="1"/>
            <p:nvPr/>
          </p:nvSpPr>
          <p:spPr>
            <a:xfrm>
              <a:off x="0" y="-38100"/>
              <a:ext cx="2424267" cy="1156523"/>
            </a:xfrm>
            <a:prstGeom prst="rect">
              <a:avLst/>
            </a:prstGeom>
          </p:spPr>
          <p:txBody>
            <a:bodyPr lIns="25400" tIns="25400" rIns="25400" bIns="25400" rtlCol="0" anchor="ctr"/>
            <a:lstStyle/>
            <a:p>
              <a:pPr algn="ctr">
                <a:lnSpc>
                  <a:spcPts val="1330"/>
                </a:lnSpc>
              </a:pPr>
              <a:endParaRPr sz="700"/>
            </a:p>
          </p:txBody>
        </p:sp>
      </p:grpSp>
      <p:grpSp>
        <p:nvGrpSpPr>
          <p:cNvPr id="20" name="Group 20">
            <a:extLst>
              <a:ext uri="{FF2B5EF4-FFF2-40B4-BE49-F238E27FC236}">
                <a16:creationId xmlns:a16="http://schemas.microsoft.com/office/drawing/2014/main" id="{40B8BCE7-F5DB-C74D-120E-15FE119805F6}"/>
              </a:ext>
            </a:extLst>
          </p:cNvPr>
          <p:cNvGrpSpPr/>
          <p:nvPr/>
        </p:nvGrpSpPr>
        <p:grpSpPr>
          <a:xfrm rot="2700000">
            <a:off x="7842195" y="3672519"/>
            <a:ext cx="2166949" cy="1126189"/>
            <a:chOff x="0" y="0"/>
            <a:chExt cx="1141438" cy="593219"/>
          </a:xfrm>
        </p:grpSpPr>
        <p:sp>
          <p:nvSpPr>
            <p:cNvPr id="21" name="Freeform 21">
              <a:extLst>
                <a:ext uri="{FF2B5EF4-FFF2-40B4-BE49-F238E27FC236}">
                  <a16:creationId xmlns:a16="http://schemas.microsoft.com/office/drawing/2014/main" id="{7CCA289A-B33A-364F-D970-B4B0741374DB}"/>
                </a:ext>
              </a:extLst>
            </p:cNvPr>
            <p:cNvSpPr/>
            <p:nvPr/>
          </p:nvSpPr>
          <p:spPr>
            <a:xfrm>
              <a:off x="0" y="0"/>
              <a:ext cx="1141438" cy="593219"/>
            </a:xfrm>
            <a:custGeom>
              <a:avLst/>
              <a:gdLst/>
              <a:ahLst/>
              <a:cxnLst/>
              <a:rect l="l" t="t" r="r" b="b"/>
              <a:pathLst>
                <a:path w="1141438" h="593219">
                  <a:moveTo>
                    <a:pt x="0" y="0"/>
                  </a:moveTo>
                  <a:lnTo>
                    <a:pt x="1141438" y="0"/>
                  </a:lnTo>
                  <a:lnTo>
                    <a:pt x="1141438" y="593219"/>
                  </a:lnTo>
                  <a:lnTo>
                    <a:pt x="0" y="593219"/>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22" name="TextBox 22">
              <a:extLst>
                <a:ext uri="{FF2B5EF4-FFF2-40B4-BE49-F238E27FC236}">
                  <a16:creationId xmlns:a16="http://schemas.microsoft.com/office/drawing/2014/main" id="{6D1B43F8-87A5-2EDD-F149-BE82A2984EB5}"/>
                </a:ext>
              </a:extLst>
            </p:cNvPr>
            <p:cNvSpPr txBox="1"/>
            <p:nvPr/>
          </p:nvSpPr>
          <p:spPr>
            <a:xfrm>
              <a:off x="0" y="-38100"/>
              <a:ext cx="1141438" cy="631319"/>
            </a:xfrm>
            <a:prstGeom prst="rect">
              <a:avLst/>
            </a:prstGeom>
          </p:spPr>
          <p:txBody>
            <a:bodyPr lIns="25400" tIns="25400" rIns="25400" bIns="25400" rtlCol="0" anchor="ctr"/>
            <a:lstStyle/>
            <a:p>
              <a:pPr algn="ctr">
                <a:lnSpc>
                  <a:spcPts val="1330"/>
                </a:lnSpc>
              </a:pPr>
              <a:endParaRPr sz="700"/>
            </a:p>
          </p:txBody>
        </p:sp>
      </p:grpSp>
      <p:grpSp>
        <p:nvGrpSpPr>
          <p:cNvPr id="23" name="Group 23">
            <a:extLst>
              <a:ext uri="{FF2B5EF4-FFF2-40B4-BE49-F238E27FC236}">
                <a16:creationId xmlns:a16="http://schemas.microsoft.com/office/drawing/2014/main" id="{2ABF0622-9241-CD75-6B4F-4578A248FF9B}"/>
              </a:ext>
            </a:extLst>
          </p:cNvPr>
          <p:cNvGrpSpPr/>
          <p:nvPr/>
        </p:nvGrpSpPr>
        <p:grpSpPr>
          <a:xfrm>
            <a:off x="5720497" y="768985"/>
            <a:ext cx="3475712" cy="3475712"/>
            <a:chOff x="0" y="0"/>
            <a:chExt cx="812800" cy="812800"/>
          </a:xfrm>
        </p:grpSpPr>
        <p:sp>
          <p:nvSpPr>
            <p:cNvPr id="24" name="Freeform 24">
              <a:extLst>
                <a:ext uri="{FF2B5EF4-FFF2-40B4-BE49-F238E27FC236}">
                  <a16:creationId xmlns:a16="http://schemas.microsoft.com/office/drawing/2014/main" id="{0A81DF20-399E-AF89-89B0-FC2CA2FD0162}"/>
                </a:ext>
              </a:extLst>
            </p:cNvPr>
            <p:cNvSpPr/>
            <p:nvPr/>
          </p:nvSpPr>
          <p:spPr>
            <a:xfrm>
              <a:off x="0" y="0"/>
              <a:ext cx="812800" cy="812800"/>
            </a:xfrm>
            <a:custGeom>
              <a:avLst/>
              <a:gdLst/>
              <a:ahLst/>
              <a:cxnLst/>
              <a:rect l="l" t="t" r="r" b="b"/>
              <a:pathLst>
                <a:path w="812800" h="812800">
                  <a:moveTo>
                    <a:pt x="574675" y="0"/>
                  </a:moveTo>
                  <a:lnTo>
                    <a:pt x="812800" y="238125"/>
                  </a:lnTo>
                  <a:lnTo>
                    <a:pt x="812800" y="574675"/>
                  </a:lnTo>
                  <a:lnTo>
                    <a:pt x="574675" y="812800"/>
                  </a:lnTo>
                  <a:lnTo>
                    <a:pt x="238125" y="812800"/>
                  </a:lnTo>
                  <a:lnTo>
                    <a:pt x="0" y="574675"/>
                  </a:lnTo>
                  <a:lnTo>
                    <a:pt x="0" y="238125"/>
                  </a:lnTo>
                  <a:lnTo>
                    <a:pt x="238125" y="0"/>
                  </a:lnTo>
                  <a:lnTo>
                    <a:pt x="574675" y="0"/>
                  </a:lnTo>
                  <a:close/>
                </a:path>
              </a:pathLst>
            </a:custGeom>
            <a:gradFill rotWithShape="1">
              <a:gsLst>
                <a:gs pos="0">
                  <a:srgbClr val="042882">
                    <a:alpha val="100000"/>
                  </a:srgbClr>
                </a:gs>
                <a:gs pos="100000">
                  <a:srgbClr val="2A83D0">
                    <a:alpha val="100000"/>
                  </a:srgbClr>
                </a:gs>
              </a:gsLst>
              <a:lin ang="0"/>
            </a:gradFill>
            <a:ln cap="sq">
              <a:noFill/>
              <a:prstDash val="solid"/>
              <a:miter/>
            </a:ln>
          </p:spPr>
          <p:txBody>
            <a:bodyPr/>
            <a:lstStyle/>
            <a:p>
              <a:endParaRPr lang="en-IN" sz="700"/>
            </a:p>
          </p:txBody>
        </p:sp>
        <p:sp>
          <p:nvSpPr>
            <p:cNvPr id="25" name="TextBox 25">
              <a:extLst>
                <a:ext uri="{FF2B5EF4-FFF2-40B4-BE49-F238E27FC236}">
                  <a16:creationId xmlns:a16="http://schemas.microsoft.com/office/drawing/2014/main" id="{40C2189F-9BF3-791F-6AA1-3475C52DFABC}"/>
                </a:ext>
              </a:extLst>
            </p:cNvPr>
            <p:cNvSpPr txBox="1"/>
            <p:nvPr/>
          </p:nvSpPr>
          <p:spPr>
            <a:xfrm>
              <a:off x="63500" y="25400"/>
              <a:ext cx="685800" cy="723900"/>
            </a:xfrm>
            <a:prstGeom prst="rect">
              <a:avLst/>
            </a:prstGeom>
          </p:spPr>
          <p:txBody>
            <a:bodyPr lIns="29445" tIns="29445" rIns="29445" bIns="29445" rtlCol="0" anchor="ctr"/>
            <a:lstStyle/>
            <a:p>
              <a:pPr algn="ctr">
                <a:lnSpc>
                  <a:spcPts val="1330"/>
                </a:lnSpc>
                <a:spcBef>
                  <a:spcPct val="0"/>
                </a:spcBef>
              </a:pPr>
              <a:endParaRPr sz="700"/>
            </a:p>
          </p:txBody>
        </p:sp>
      </p:grpSp>
      <p:sp>
        <p:nvSpPr>
          <p:cNvPr id="34" name="Freeform 34">
            <a:extLst>
              <a:ext uri="{FF2B5EF4-FFF2-40B4-BE49-F238E27FC236}">
                <a16:creationId xmlns:a16="http://schemas.microsoft.com/office/drawing/2014/main" id="{79637531-A44E-C462-F403-761C10B95F61}"/>
              </a:ext>
            </a:extLst>
          </p:cNvPr>
          <p:cNvSpPr/>
          <p:nvPr/>
        </p:nvSpPr>
        <p:spPr>
          <a:xfrm>
            <a:off x="4814816" y="492813"/>
            <a:ext cx="857064" cy="159628"/>
          </a:xfrm>
          <a:custGeom>
            <a:avLst/>
            <a:gdLst/>
            <a:ahLst/>
            <a:cxnLst/>
            <a:rect l="l" t="t" r="r" b="b"/>
            <a:pathLst>
              <a:path w="1714127" h="319256">
                <a:moveTo>
                  <a:pt x="0" y="0"/>
                </a:moveTo>
                <a:lnTo>
                  <a:pt x="1714127" y="0"/>
                </a:lnTo>
                <a:lnTo>
                  <a:pt x="1714127" y="319257"/>
                </a:lnTo>
                <a:lnTo>
                  <a:pt x="0" y="31925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sz="700"/>
          </a:p>
        </p:txBody>
      </p:sp>
      <p:sp>
        <p:nvSpPr>
          <p:cNvPr id="35" name="Freeform 35">
            <a:extLst>
              <a:ext uri="{FF2B5EF4-FFF2-40B4-BE49-F238E27FC236}">
                <a16:creationId xmlns:a16="http://schemas.microsoft.com/office/drawing/2014/main" id="{DCD7CC8C-164D-C41A-6252-42C99A05871B}"/>
              </a:ext>
            </a:extLst>
          </p:cNvPr>
          <p:cNvSpPr/>
          <p:nvPr/>
        </p:nvSpPr>
        <p:spPr>
          <a:xfrm>
            <a:off x="8435937" y="4382878"/>
            <a:ext cx="857064" cy="159628"/>
          </a:xfrm>
          <a:custGeom>
            <a:avLst/>
            <a:gdLst/>
            <a:ahLst/>
            <a:cxnLst/>
            <a:rect l="l" t="t" r="r" b="b"/>
            <a:pathLst>
              <a:path w="1714127" h="319256">
                <a:moveTo>
                  <a:pt x="0" y="0"/>
                </a:moveTo>
                <a:lnTo>
                  <a:pt x="1714127" y="0"/>
                </a:lnTo>
                <a:lnTo>
                  <a:pt x="1714127" y="319256"/>
                </a:lnTo>
                <a:lnTo>
                  <a:pt x="0" y="31925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sz="700"/>
          </a:p>
        </p:txBody>
      </p:sp>
      <p:sp>
        <p:nvSpPr>
          <p:cNvPr id="36" name="Freeform 36">
            <a:extLst>
              <a:ext uri="{FF2B5EF4-FFF2-40B4-BE49-F238E27FC236}">
                <a16:creationId xmlns:a16="http://schemas.microsoft.com/office/drawing/2014/main" id="{8672D197-9BF9-8CFA-6DF7-2937B68FFD86}"/>
              </a:ext>
            </a:extLst>
          </p:cNvPr>
          <p:cNvSpPr/>
          <p:nvPr/>
        </p:nvSpPr>
        <p:spPr>
          <a:xfrm>
            <a:off x="8726258" y="4572000"/>
            <a:ext cx="857064" cy="159628"/>
          </a:xfrm>
          <a:custGeom>
            <a:avLst/>
            <a:gdLst/>
            <a:ahLst/>
            <a:cxnLst/>
            <a:rect l="l" t="t" r="r" b="b"/>
            <a:pathLst>
              <a:path w="1714127" h="319256">
                <a:moveTo>
                  <a:pt x="0" y="0"/>
                </a:moveTo>
                <a:lnTo>
                  <a:pt x="1714128" y="0"/>
                </a:lnTo>
                <a:lnTo>
                  <a:pt x="1714128" y="319256"/>
                </a:lnTo>
                <a:lnTo>
                  <a:pt x="0" y="31925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sz="700"/>
          </a:p>
        </p:txBody>
      </p:sp>
      <p:grpSp>
        <p:nvGrpSpPr>
          <p:cNvPr id="47" name="Group 46">
            <a:extLst>
              <a:ext uri="{FF2B5EF4-FFF2-40B4-BE49-F238E27FC236}">
                <a16:creationId xmlns:a16="http://schemas.microsoft.com/office/drawing/2014/main" id="{1E9CDC51-FF0E-F171-6762-BB19A05B4D8E}"/>
              </a:ext>
            </a:extLst>
          </p:cNvPr>
          <p:cNvGrpSpPr/>
          <p:nvPr/>
        </p:nvGrpSpPr>
        <p:grpSpPr>
          <a:xfrm>
            <a:off x="-19007" y="2928677"/>
            <a:ext cx="4276134" cy="431080"/>
            <a:chOff x="0" y="2985846"/>
            <a:chExt cx="4276134" cy="431080"/>
          </a:xfrm>
        </p:grpSpPr>
        <p:grpSp>
          <p:nvGrpSpPr>
            <p:cNvPr id="28" name="Group 28">
              <a:extLst>
                <a:ext uri="{FF2B5EF4-FFF2-40B4-BE49-F238E27FC236}">
                  <a16:creationId xmlns:a16="http://schemas.microsoft.com/office/drawing/2014/main" id="{20253B4E-5254-3A4A-D2B3-FDC541381304}"/>
                </a:ext>
              </a:extLst>
            </p:cNvPr>
            <p:cNvGrpSpPr/>
            <p:nvPr/>
          </p:nvGrpSpPr>
          <p:grpSpPr>
            <a:xfrm>
              <a:off x="0" y="2985846"/>
              <a:ext cx="4224335" cy="431080"/>
              <a:chOff x="0" y="-38100"/>
              <a:chExt cx="4355842" cy="444500"/>
            </a:xfrm>
          </p:grpSpPr>
          <p:sp>
            <p:nvSpPr>
              <p:cNvPr id="29" name="Freeform 29">
                <a:extLst>
                  <a:ext uri="{FF2B5EF4-FFF2-40B4-BE49-F238E27FC236}">
                    <a16:creationId xmlns:a16="http://schemas.microsoft.com/office/drawing/2014/main" id="{98AC3028-4A73-A10C-B23F-D62CE7C18AED}"/>
                  </a:ext>
                </a:extLst>
              </p:cNvPr>
              <p:cNvSpPr/>
              <p:nvPr/>
            </p:nvSpPr>
            <p:spPr>
              <a:xfrm>
                <a:off x="0" y="0"/>
                <a:ext cx="4355842" cy="406400"/>
              </a:xfrm>
              <a:custGeom>
                <a:avLst/>
                <a:gdLst/>
                <a:ahLst/>
                <a:cxnLst/>
                <a:rect l="l" t="t" r="r" b="b"/>
                <a:pathLst>
                  <a:path w="4355842" h="406400">
                    <a:moveTo>
                      <a:pt x="4152642" y="0"/>
                    </a:moveTo>
                    <a:lnTo>
                      <a:pt x="0" y="0"/>
                    </a:lnTo>
                    <a:lnTo>
                      <a:pt x="0" y="406400"/>
                    </a:lnTo>
                    <a:lnTo>
                      <a:pt x="4152642" y="406400"/>
                    </a:lnTo>
                    <a:lnTo>
                      <a:pt x="4355842" y="203200"/>
                    </a:lnTo>
                    <a:lnTo>
                      <a:pt x="4152642" y="0"/>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30" name="TextBox 30">
                <a:extLst>
                  <a:ext uri="{FF2B5EF4-FFF2-40B4-BE49-F238E27FC236}">
                    <a16:creationId xmlns:a16="http://schemas.microsoft.com/office/drawing/2014/main" id="{199C1F1F-4C5C-E8C0-1593-D5C9F6952716}"/>
                  </a:ext>
                </a:extLst>
              </p:cNvPr>
              <p:cNvSpPr txBox="1"/>
              <p:nvPr/>
            </p:nvSpPr>
            <p:spPr>
              <a:xfrm>
                <a:off x="0" y="-38100"/>
                <a:ext cx="4241542" cy="444500"/>
              </a:xfrm>
              <a:prstGeom prst="rect">
                <a:avLst/>
              </a:prstGeom>
            </p:spPr>
            <p:txBody>
              <a:bodyPr lIns="25400" tIns="25400" rIns="25400" bIns="25400" rtlCol="0" anchor="ctr"/>
              <a:lstStyle/>
              <a:p>
                <a:pPr algn="ctr">
                  <a:lnSpc>
                    <a:spcPts val="1330"/>
                  </a:lnSpc>
                </a:pPr>
                <a:endParaRPr sz="700"/>
              </a:p>
            </p:txBody>
          </p:sp>
        </p:grpSp>
        <p:sp>
          <p:nvSpPr>
            <p:cNvPr id="44" name="TextBox 44">
              <a:extLst>
                <a:ext uri="{FF2B5EF4-FFF2-40B4-BE49-F238E27FC236}">
                  <a16:creationId xmlns:a16="http://schemas.microsoft.com/office/drawing/2014/main" id="{3578161E-D839-4793-89CB-83A287A2849E}"/>
                </a:ext>
              </a:extLst>
            </p:cNvPr>
            <p:cNvSpPr txBox="1"/>
            <p:nvPr/>
          </p:nvSpPr>
          <p:spPr>
            <a:xfrm>
              <a:off x="466725" y="3100839"/>
              <a:ext cx="3809409" cy="223587"/>
            </a:xfrm>
            <a:prstGeom prst="rect">
              <a:avLst/>
            </a:prstGeom>
          </p:spPr>
          <p:txBody>
            <a:bodyPr lIns="0" tIns="0" rIns="0" bIns="0" rtlCol="0" anchor="t">
              <a:spAutoFit/>
            </a:bodyPr>
            <a:lstStyle/>
            <a:p>
              <a:pPr>
                <a:lnSpc>
                  <a:spcPts val="1943"/>
                </a:lnSpc>
              </a:pPr>
              <a:r>
                <a:rPr lang="en-US" sz="1400" b="1" spc="583" dirty="0">
                  <a:solidFill>
                    <a:srgbClr val="FFFFFF"/>
                  </a:solidFill>
                  <a:latin typeface="Arial" panose="020B0604020202020204" pitchFamily="34" charset="0"/>
                  <a:ea typeface="Aileron Bold"/>
                  <a:cs typeface="Arial" panose="020B0604020202020204" pitchFamily="34" charset="0"/>
                  <a:sym typeface="Aileron Bold"/>
                </a:rPr>
                <a:t>PRESENTATION 2026</a:t>
              </a:r>
            </a:p>
          </p:txBody>
        </p:sp>
      </p:grpSp>
      <p:sp>
        <p:nvSpPr>
          <p:cNvPr id="40" name="TextBox 40">
            <a:extLst>
              <a:ext uri="{FF2B5EF4-FFF2-40B4-BE49-F238E27FC236}">
                <a16:creationId xmlns:a16="http://schemas.microsoft.com/office/drawing/2014/main" id="{EEE29F0A-1253-B8CE-E742-41B8B6EB922D}"/>
              </a:ext>
            </a:extLst>
          </p:cNvPr>
          <p:cNvSpPr txBox="1"/>
          <p:nvPr/>
        </p:nvSpPr>
        <p:spPr>
          <a:xfrm>
            <a:off x="5090488" y="4296187"/>
            <a:ext cx="1126768" cy="154209"/>
          </a:xfrm>
          <a:prstGeom prst="rect">
            <a:avLst/>
          </a:prstGeom>
        </p:spPr>
        <p:txBody>
          <a:bodyPr wrap="square"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Faculty Name</a:t>
            </a:r>
          </a:p>
        </p:txBody>
      </p:sp>
      <p:sp>
        <p:nvSpPr>
          <p:cNvPr id="42" name="TextBox 42">
            <a:extLst>
              <a:ext uri="{FF2B5EF4-FFF2-40B4-BE49-F238E27FC236}">
                <a16:creationId xmlns:a16="http://schemas.microsoft.com/office/drawing/2014/main" id="{2E9FAC26-1E84-D690-0FD4-B1A364AF40DE}"/>
              </a:ext>
            </a:extLst>
          </p:cNvPr>
          <p:cNvSpPr txBox="1"/>
          <p:nvPr/>
        </p:nvSpPr>
        <p:spPr>
          <a:xfrm>
            <a:off x="5084136" y="4461904"/>
            <a:ext cx="1412731" cy="227435"/>
          </a:xfrm>
          <a:prstGeom prst="rect">
            <a:avLst/>
          </a:prstGeom>
        </p:spPr>
        <p:txBody>
          <a:bodyPr wrap="square" lIns="0" tIns="0" rIns="0" bIns="0" rtlCol="0" anchor="t">
            <a:spAutoFit/>
          </a:bodyPr>
          <a:lstStyle/>
          <a:p>
            <a:pPr>
              <a:lnSpc>
                <a:spcPts val="2038"/>
              </a:lnSpc>
            </a:pPr>
            <a:r>
              <a:rPr lang="en-US" sz="1200" b="1" dirty="0">
                <a:solidFill>
                  <a:srgbClr val="0D358D"/>
                </a:solidFill>
                <a:latin typeface="Arial" panose="020B0604020202020204" pitchFamily="34" charset="0"/>
                <a:ea typeface="Aileron Bold"/>
                <a:cs typeface="Arial" panose="020B0604020202020204" pitchFamily="34" charset="0"/>
                <a:sym typeface="Aileron Bold"/>
              </a:rPr>
              <a:t>Poonam Sharma</a:t>
            </a:r>
          </a:p>
        </p:txBody>
      </p:sp>
      <p:pic>
        <p:nvPicPr>
          <p:cNvPr id="50" name="Picture 49" descr="A blue circle with a person and a envelope in it&#10;&#10;AI-generated content may be incorrect.">
            <a:extLst>
              <a:ext uri="{FF2B5EF4-FFF2-40B4-BE49-F238E27FC236}">
                <a16:creationId xmlns:a16="http://schemas.microsoft.com/office/drawing/2014/main" id="{C926F708-70B7-B0DB-A148-0FA2830D925D}"/>
              </a:ext>
            </a:extLst>
          </p:cNvPr>
          <p:cNvPicPr>
            <a:picLocks noChangeAspect="1"/>
          </p:cNvPicPr>
          <p:nvPr/>
        </p:nvPicPr>
        <p:blipFill>
          <a:blip r:embed="rId5"/>
          <a:srcRect l="26757" t="2453" r="27842" b="53701"/>
          <a:stretch>
            <a:fillRect/>
          </a:stretch>
        </p:blipFill>
        <p:spPr>
          <a:xfrm>
            <a:off x="4334011" y="4121397"/>
            <a:ext cx="395331" cy="381795"/>
          </a:xfrm>
          <a:prstGeom prst="rect">
            <a:avLst/>
          </a:prstGeom>
        </p:spPr>
      </p:pic>
      <p:sp>
        <p:nvSpPr>
          <p:cNvPr id="43" name="TextBox 43">
            <a:extLst>
              <a:ext uri="{FF2B5EF4-FFF2-40B4-BE49-F238E27FC236}">
                <a16:creationId xmlns:a16="http://schemas.microsoft.com/office/drawing/2014/main" id="{B84F91E2-C42E-10B3-A03A-88AA58AF1258}"/>
              </a:ext>
            </a:extLst>
          </p:cNvPr>
          <p:cNvSpPr txBox="1"/>
          <p:nvPr/>
        </p:nvSpPr>
        <p:spPr>
          <a:xfrm>
            <a:off x="2566486" y="4461904"/>
            <a:ext cx="2272871" cy="227435"/>
          </a:xfrm>
          <a:prstGeom prst="rect">
            <a:avLst/>
          </a:prstGeom>
        </p:spPr>
        <p:txBody>
          <a:bodyPr lIns="0" tIns="0" rIns="0" bIns="0" rtlCol="0" anchor="t">
            <a:spAutoFit/>
          </a:bodyPr>
          <a:lstStyle/>
          <a:p>
            <a:pPr>
              <a:lnSpc>
                <a:spcPts val="2038"/>
              </a:lnSpc>
            </a:pPr>
            <a:r>
              <a:rPr lang="en-US" sz="1200" b="1" dirty="0">
                <a:solidFill>
                  <a:srgbClr val="0D358D"/>
                </a:solidFill>
                <a:latin typeface="Arial" panose="020B0604020202020204" pitchFamily="34" charset="0"/>
                <a:ea typeface="Aileron Bold"/>
                <a:cs typeface="Arial" panose="020B0604020202020204" pitchFamily="34" charset="0"/>
                <a:sym typeface="Aileron Bold"/>
              </a:rPr>
              <a:t>Poonam.pragya11@gmail.com</a:t>
            </a:r>
          </a:p>
        </p:txBody>
      </p:sp>
      <p:pic>
        <p:nvPicPr>
          <p:cNvPr id="51" name="Picture 50" descr="A blue circle with a person and a envelope in it&#10;&#10;AI-generated content may be incorrect.">
            <a:extLst>
              <a:ext uri="{FF2B5EF4-FFF2-40B4-BE49-F238E27FC236}">
                <a16:creationId xmlns:a16="http://schemas.microsoft.com/office/drawing/2014/main" id="{EC8FEF14-C75E-1155-0600-B4343B3F57F8}"/>
              </a:ext>
            </a:extLst>
          </p:cNvPr>
          <p:cNvPicPr>
            <a:picLocks noChangeAspect="1"/>
          </p:cNvPicPr>
          <p:nvPr/>
        </p:nvPicPr>
        <p:blipFill>
          <a:blip r:embed="rId5"/>
          <a:srcRect l="26859" t="52379" r="26874" b="2349"/>
          <a:stretch>
            <a:fillRect/>
          </a:stretch>
        </p:blipFill>
        <p:spPr>
          <a:xfrm>
            <a:off x="2258363" y="4098458"/>
            <a:ext cx="398279" cy="389719"/>
          </a:xfrm>
          <a:prstGeom prst="rect">
            <a:avLst/>
          </a:prstGeom>
        </p:spPr>
      </p:pic>
      <p:grpSp>
        <p:nvGrpSpPr>
          <p:cNvPr id="66" name="Group 65">
            <a:extLst>
              <a:ext uri="{FF2B5EF4-FFF2-40B4-BE49-F238E27FC236}">
                <a16:creationId xmlns:a16="http://schemas.microsoft.com/office/drawing/2014/main" id="{658A7A12-122B-4A3C-11D3-C4D8BF732077}"/>
              </a:ext>
            </a:extLst>
          </p:cNvPr>
          <p:cNvGrpSpPr/>
          <p:nvPr/>
        </p:nvGrpSpPr>
        <p:grpSpPr>
          <a:xfrm>
            <a:off x="340107" y="4326593"/>
            <a:ext cx="2317246" cy="362746"/>
            <a:chOff x="2540258" y="4295282"/>
            <a:chExt cx="2409419" cy="362746"/>
          </a:xfrm>
        </p:grpSpPr>
        <p:sp>
          <p:nvSpPr>
            <p:cNvPr id="67" name="TextBox 41">
              <a:extLst>
                <a:ext uri="{FF2B5EF4-FFF2-40B4-BE49-F238E27FC236}">
                  <a16:creationId xmlns:a16="http://schemas.microsoft.com/office/drawing/2014/main" id="{5FE6F280-D970-382B-5260-25E219F86722}"/>
                </a:ext>
              </a:extLst>
            </p:cNvPr>
            <p:cNvSpPr txBox="1"/>
            <p:nvPr/>
          </p:nvSpPr>
          <p:spPr>
            <a:xfrm>
              <a:off x="3139699" y="4295282"/>
              <a:ext cx="1809978" cy="158890"/>
            </a:xfrm>
            <a:prstGeom prst="rect">
              <a:avLst/>
            </a:prstGeom>
          </p:spPr>
          <p:txBody>
            <a:bodyPr lIns="0" tIns="0" rIns="0" bIns="0" rtlCol="0" anchor="t">
              <a:spAutoFit/>
            </a:bodyPr>
            <a:lstStyle/>
            <a:p>
              <a:pPr>
                <a:lnSpc>
                  <a:spcPts val="1296"/>
                </a:lnSpc>
              </a:pPr>
              <a:endParaRPr lang="en-US" sz="1000" dirty="0">
                <a:latin typeface="Arial" panose="020B0604020202020204" pitchFamily="34" charset="0"/>
                <a:ea typeface="Aileron"/>
                <a:cs typeface="Arial" panose="020B0604020202020204" pitchFamily="34" charset="0"/>
                <a:sym typeface="Aileron"/>
              </a:endParaRPr>
            </a:p>
          </p:txBody>
        </p:sp>
        <p:sp>
          <p:nvSpPr>
            <p:cNvPr id="68" name="TextBox 43">
              <a:extLst>
                <a:ext uri="{FF2B5EF4-FFF2-40B4-BE49-F238E27FC236}">
                  <a16:creationId xmlns:a16="http://schemas.microsoft.com/office/drawing/2014/main" id="{A541DFB6-306C-CD3E-24BD-6D7131F87B73}"/>
                </a:ext>
              </a:extLst>
            </p:cNvPr>
            <p:cNvSpPr txBox="1"/>
            <p:nvPr/>
          </p:nvSpPr>
          <p:spPr>
            <a:xfrm>
              <a:off x="2540258" y="4430593"/>
              <a:ext cx="2272871" cy="227435"/>
            </a:xfrm>
            <a:prstGeom prst="rect">
              <a:avLst/>
            </a:prstGeom>
          </p:spPr>
          <p:txBody>
            <a:bodyPr lIns="0" tIns="0" rIns="0" bIns="0" rtlCol="0" anchor="t">
              <a:spAutoFit/>
            </a:bodyPr>
            <a:lstStyle/>
            <a:p>
              <a:pPr>
                <a:lnSpc>
                  <a:spcPts val="2038"/>
                </a:lnSpc>
              </a:pPr>
              <a:endParaRPr lang="en-US" sz="1200" b="1" dirty="0">
                <a:solidFill>
                  <a:srgbClr val="0D358D"/>
                </a:solidFill>
                <a:latin typeface="Arial" panose="020B0604020202020204" pitchFamily="34" charset="0"/>
                <a:ea typeface="Aileron Bold"/>
                <a:cs typeface="Arial" panose="020B0604020202020204" pitchFamily="34" charset="0"/>
                <a:sym typeface="Aileron Bold"/>
              </a:endParaRPr>
            </a:p>
          </p:txBody>
        </p:sp>
        <p:sp>
          <p:nvSpPr>
            <p:cNvPr id="27" name="TextBox 41">
              <a:extLst>
                <a:ext uri="{FF2B5EF4-FFF2-40B4-BE49-F238E27FC236}">
                  <a16:creationId xmlns:a16="http://schemas.microsoft.com/office/drawing/2014/main" id="{00F99B8C-B290-7967-C57C-2703766B4870}"/>
                </a:ext>
              </a:extLst>
            </p:cNvPr>
            <p:cNvSpPr txBox="1"/>
            <p:nvPr/>
          </p:nvSpPr>
          <p:spPr>
            <a:xfrm>
              <a:off x="2966433" y="4475771"/>
              <a:ext cx="1809978" cy="166712"/>
            </a:xfrm>
            <a:prstGeom prst="rect">
              <a:avLst/>
            </a:prstGeom>
          </p:spPr>
          <p:txBody>
            <a:bodyPr lIns="0" tIns="0" rIns="0" bIns="0" rtlCol="0" anchor="t">
              <a:spAutoFit/>
            </a:bodyPr>
            <a:lstStyle/>
            <a:p>
              <a:pPr>
                <a:lnSpc>
                  <a:spcPts val="1296"/>
                </a:lnSpc>
              </a:pPr>
              <a:r>
                <a:rPr lang="en-US" sz="1200" b="1" dirty="0">
                  <a:solidFill>
                    <a:schemeClr val="accent1">
                      <a:lumMod val="75000"/>
                    </a:schemeClr>
                  </a:solidFill>
                  <a:latin typeface="Times New Roman" panose="02020603050405020304" pitchFamily="18" charset="0"/>
                  <a:ea typeface="Aileron"/>
                  <a:cs typeface="Times New Roman" panose="02020603050405020304" pitchFamily="18" charset="0"/>
                  <a:sym typeface="Aileron"/>
                </a:rPr>
                <a:t> Uma Maheshwari mam</a:t>
              </a:r>
            </a:p>
          </p:txBody>
        </p:sp>
      </p:grpSp>
      <p:pic>
        <p:nvPicPr>
          <p:cNvPr id="71" name="Picture 70">
            <a:extLst>
              <a:ext uri="{FF2B5EF4-FFF2-40B4-BE49-F238E27FC236}">
                <a16:creationId xmlns:a16="http://schemas.microsoft.com/office/drawing/2014/main" id="{4094A52A-31D4-B030-C8BD-9B0ACB0083EC}"/>
              </a:ext>
            </a:extLst>
          </p:cNvPr>
          <p:cNvPicPr>
            <a:picLocks noChangeAspect="1"/>
          </p:cNvPicPr>
          <p:nvPr/>
        </p:nvPicPr>
        <p:blipFill>
          <a:blip r:embed="rId6"/>
          <a:srcRect l="28109" t="6546" r="28551" b="49509"/>
          <a:stretch>
            <a:fillRect/>
          </a:stretch>
        </p:blipFill>
        <p:spPr>
          <a:xfrm>
            <a:off x="160014" y="4544899"/>
            <a:ext cx="375815" cy="381063"/>
          </a:xfrm>
          <a:prstGeom prst="rect">
            <a:avLst/>
          </a:prstGeom>
        </p:spPr>
      </p:pic>
      <p:grpSp>
        <p:nvGrpSpPr>
          <p:cNvPr id="49" name="Group 48">
            <a:extLst>
              <a:ext uri="{FF2B5EF4-FFF2-40B4-BE49-F238E27FC236}">
                <a16:creationId xmlns:a16="http://schemas.microsoft.com/office/drawing/2014/main" id="{18150B14-0B49-9E22-C961-786A40F27A84}"/>
              </a:ext>
            </a:extLst>
          </p:cNvPr>
          <p:cNvGrpSpPr/>
          <p:nvPr/>
        </p:nvGrpSpPr>
        <p:grpSpPr>
          <a:xfrm>
            <a:off x="640733" y="769747"/>
            <a:ext cx="3051630" cy="258616"/>
            <a:chOff x="1068621" y="826472"/>
            <a:chExt cx="2166264" cy="183584"/>
          </a:xfrm>
        </p:grpSpPr>
        <p:pic>
          <p:nvPicPr>
            <p:cNvPr id="55" name="Picture 54" descr="A blue and black logo&#10;&#10;AI-generated content may be incorrect.">
              <a:extLst>
                <a:ext uri="{FF2B5EF4-FFF2-40B4-BE49-F238E27FC236}">
                  <a16:creationId xmlns:a16="http://schemas.microsoft.com/office/drawing/2014/main" id="{9016EA03-A173-06E1-C2CA-FF7DC65A3637}"/>
                </a:ext>
              </a:extLst>
            </p:cNvPr>
            <p:cNvPicPr>
              <a:picLocks noChangeAspect="1"/>
            </p:cNvPicPr>
            <p:nvPr/>
          </p:nvPicPr>
          <p:blipFill>
            <a:blip r:embed="rId7"/>
            <a:stretch>
              <a:fillRect/>
            </a:stretch>
          </p:blipFill>
          <p:spPr>
            <a:xfrm>
              <a:off x="1068621" y="826472"/>
              <a:ext cx="632879" cy="158848"/>
            </a:xfrm>
            <a:prstGeom prst="rect">
              <a:avLst/>
            </a:prstGeom>
          </p:spPr>
        </p:pic>
        <p:pic>
          <p:nvPicPr>
            <p:cNvPr id="57" name="Picture 56" descr="A close up of a logo&#10;&#10;AI-generated content may be incorrect.">
              <a:extLst>
                <a:ext uri="{FF2B5EF4-FFF2-40B4-BE49-F238E27FC236}">
                  <a16:creationId xmlns:a16="http://schemas.microsoft.com/office/drawing/2014/main" id="{B084208C-F6C2-47AC-3616-A62F69B53173}"/>
                </a:ext>
              </a:extLst>
            </p:cNvPr>
            <p:cNvPicPr>
              <a:picLocks noChangeAspect="1"/>
            </p:cNvPicPr>
            <p:nvPr/>
          </p:nvPicPr>
          <p:blipFill>
            <a:blip r:embed="rId8"/>
            <a:stretch>
              <a:fillRect/>
            </a:stretch>
          </p:blipFill>
          <p:spPr>
            <a:xfrm>
              <a:off x="2670437" y="826472"/>
              <a:ext cx="564448" cy="183584"/>
            </a:xfrm>
            <a:prstGeom prst="rect">
              <a:avLst/>
            </a:prstGeom>
          </p:spPr>
        </p:pic>
      </p:grpSp>
      <p:sp>
        <p:nvSpPr>
          <p:cNvPr id="31" name="Shape 7">
            <a:extLst>
              <a:ext uri="{FF2B5EF4-FFF2-40B4-BE49-F238E27FC236}">
                <a16:creationId xmlns:a16="http://schemas.microsoft.com/office/drawing/2014/main" id="{4DEADC42-07CF-F7CC-6F54-42498EAA37B3}"/>
              </a:ext>
            </a:extLst>
          </p:cNvPr>
          <p:cNvSpPr/>
          <p:nvPr/>
        </p:nvSpPr>
        <p:spPr>
          <a:xfrm rot="18195971">
            <a:off x="5802826" y="2309413"/>
            <a:ext cx="2834640" cy="109728"/>
          </a:xfrm>
          <a:prstGeom prst="rect">
            <a:avLst/>
          </a:prstGeom>
          <a:solidFill>
            <a:srgbClr val="4FC3F7"/>
          </a:solidFill>
          <a:ln/>
        </p:spPr>
        <p:txBody>
          <a:bodyPr/>
          <a:lstStyle/>
          <a:p>
            <a:endParaRPr lang="en-IN"/>
          </a:p>
        </p:txBody>
      </p:sp>
      <p:sp>
        <p:nvSpPr>
          <p:cNvPr id="32" name="Shape 8">
            <a:extLst>
              <a:ext uri="{FF2B5EF4-FFF2-40B4-BE49-F238E27FC236}">
                <a16:creationId xmlns:a16="http://schemas.microsoft.com/office/drawing/2014/main" id="{51B3A474-02DA-6A59-3FFF-434FDDC06A2B}"/>
              </a:ext>
            </a:extLst>
          </p:cNvPr>
          <p:cNvSpPr/>
          <p:nvPr/>
        </p:nvSpPr>
        <p:spPr>
          <a:xfrm rot="18195971">
            <a:off x="6146363" y="2413708"/>
            <a:ext cx="2468880" cy="109728"/>
          </a:xfrm>
          <a:prstGeom prst="rect">
            <a:avLst/>
          </a:prstGeom>
          <a:solidFill>
            <a:srgbClr val="4FC3F7"/>
          </a:solidFill>
          <a:ln/>
        </p:spPr>
        <p:txBody>
          <a:bodyPr/>
          <a:lstStyle/>
          <a:p>
            <a:endParaRPr lang="en-IN"/>
          </a:p>
        </p:txBody>
      </p:sp>
      <p:sp>
        <p:nvSpPr>
          <p:cNvPr id="33" name="Shape 9">
            <a:extLst>
              <a:ext uri="{FF2B5EF4-FFF2-40B4-BE49-F238E27FC236}">
                <a16:creationId xmlns:a16="http://schemas.microsoft.com/office/drawing/2014/main" id="{075C146A-525E-EAB1-2438-92AF6E344C2C}"/>
              </a:ext>
            </a:extLst>
          </p:cNvPr>
          <p:cNvSpPr/>
          <p:nvPr/>
        </p:nvSpPr>
        <p:spPr>
          <a:xfrm rot="18195971">
            <a:off x="6482126" y="2528680"/>
            <a:ext cx="2103120" cy="109728"/>
          </a:xfrm>
          <a:prstGeom prst="rect">
            <a:avLst/>
          </a:prstGeom>
          <a:solidFill>
            <a:srgbClr val="4FC3F7"/>
          </a:solidFill>
          <a:ln/>
        </p:spPr>
        <p:txBody>
          <a:bodyPr/>
          <a:lstStyle/>
          <a:p>
            <a:endParaRPr lang="en-IN"/>
          </a:p>
        </p:txBody>
      </p:sp>
      <p:sp>
        <p:nvSpPr>
          <p:cNvPr id="39" name="Shape 9">
            <a:extLst>
              <a:ext uri="{FF2B5EF4-FFF2-40B4-BE49-F238E27FC236}">
                <a16:creationId xmlns:a16="http://schemas.microsoft.com/office/drawing/2014/main" id="{ED47441A-C600-ACAC-5391-EF118874C98C}"/>
              </a:ext>
            </a:extLst>
          </p:cNvPr>
          <p:cNvSpPr/>
          <p:nvPr/>
        </p:nvSpPr>
        <p:spPr>
          <a:xfrm rot="18195971">
            <a:off x="6735713" y="2647223"/>
            <a:ext cx="1872046" cy="116269"/>
          </a:xfrm>
          <a:prstGeom prst="rect">
            <a:avLst/>
          </a:prstGeom>
          <a:solidFill>
            <a:srgbClr val="4FC3F7"/>
          </a:solidFill>
          <a:ln/>
        </p:spPr>
        <p:txBody>
          <a:bodyPr/>
          <a:lstStyle/>
          <a:p>
            <a:endParaRPr lang="en-IN"/>
          </a:p>
        </p:txBody>
      </p:sp>
      <p:pic>
        <p:nvPicPr>
          <p:cNvPr id="46" name="Picture 45">
            <a:extLst>
              <a:ext uri="{FF2B5EF4-FFF2-40B4-BE49-F238E27FC236}">
                <a16:creationId xmlns:a16="http://schemas.microsoft.com/office/drawing/2014/main" id="{21A2EF52-784B-5BFA-EB88-FB9E7588BFF8}"/>
              </a:ext>
            </a:extLst>
          </p:cNvPr>
          <p:cNvPicPr>
            <a:picLocks noChangeAspect="1"/>
          </p:cNvPicPr>
          <p:nvPr/>
        </p:nvPicPr>
        <p:blipFill>
          <a:blip r:embed="rId9"/>
          <a:srcRect b="19729"/>
          <a:stretch>
            <a:fillRect/>
          </a:stretch>
        </p:blipFill>
        <p:spPr>
          <a:xfrm>
            <a:off x="173754" y="1046557"/>
            <a:ext cx="3854253" cy="1849530"/>
          </a:xfrm>
          <a:prstGeom prst="rect">
            <a:avLst/>
          </a:prstGeom>
        </p:spPr>
      </p:pic>
      <p:graphicFrame>
        <p:nvGraphicFramePr>
          <p:cNvPr id="26" name="Table 25">
            <a:extLst>
              <a:ext uri="{FF2B5EF4-FFF2-40B4-BE49-F238E27FC236}">
                <a16:creationId xmlns:a16="http://schemas.microsoft.com/office/drawing/2014/main" id="{C81DED0E-8121-4A62-5E99-A69B8B50AA1B}"/>
              </a:ext>
            </a:extLst>
          </p:cNvPr>
          <p:cNvGraphicFramePr>
            <a:graphicFrameLocks noGrp="1"/>
          </p:cNvGraphicFramePr>
          <p:nvPr>
            <p:extLst>
              <p:ext uri="{D42A27DB-BD31-4B8C-83A1-F6EECF244321}">
                <p14:modId xmlns:p14="http://schemas.microsoft.com/office/powerpoint/2010/main" val="1393895538"/>
              </p:ext>
            </p:extLst>
          </p:nvPr>
        </p:nvGraphicFramePr>
        <p:xfrm>
          <a:off x="309966" y="3463064"/>
          <a:ext cx="4141153" cy="670560"/>
        </p:xfrm>
        <a:graphic>
          <a:graphicData uri="http://schemas.openxmlformats.org/drawingml/2006/table">
            <a:tbl>
              <a:tblPr>
                <a:tableStyleId>{2D5ABB26-0587-4C30-8999-92F81FD0307C}</a:tableStyleId>
              </a:tblPr>
              <a:tblGrid>
                <a:gridCol w="4141153">
                  <a:extLst>
                    <a:ext uri="{9D8B030D-6E8A-4147-A177-3AD203B41FA5}">
                      <a16:colId xmlns:a16="http://schemas.microsoft.com/office/drawing/2014/main" val="3438802165"/>
                    </a:ext>
                  </a:extLst>
                </a:gridCol>
              </a:tblGrid>
              <a:tr h="29002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b="1" kern="1200" dirty="0">
                          <a:solidFill>
                            <a:schemeClr val="tx1"/>
                          </a:solidFill>
                          <a:effectLst/>
                          <a:latin typeface="Times New Roman" panose="02020603050405020304" pitchFamily="18" charset="0"/>
                          <a:ea typeface="+mn-ea"/>
                          <a:cs typeface="Times New Roman" panose="02020603050405020304" pitchFamily="18" charset="0"/>
                        </a:rPr>
                        <a:t>Edu Pulse AI: Turning Student Voices into Institutional Growth</a:t>
                      </a:r>
                      <a:endParaRPr lang="en-IN" sz="1200" kern="1200" dirty="0">
                        <a:solidFill>
                          <a:schemeClr val="tx1"/>
                        </a:solidFill>
                        <a:effectLst/>
                        <a:latin typeface="Times New Roman" panose="02020603050405020304" pitchFamily="18" charset="0"/>
                        <a:ea typeface="+mn-ea"/>
                        <a:cs typeface="Times New Roman" panose="02020603050405020304" pitchFamily="18" charset="0"/>
                      </a:endParaRPr>
                    </a:p>
                    <a:p>
                      <a:endParaRPr lang="en-IN" sz="1400" b="1" kern="1200" dirty="0">
                        <a:solidFill>
                          <a:srgbClr val="0D358D"/>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841395308"/>
                  </a:ext>
                </a:extLst>
              </a:tr>
            </a:tbl>
          </a:graphicData>
        </a:graphic>
      </p:graphicFrame>
    </p:spTree>
    <p:custDataLst>
      <p:tags r:id="rId1"/>
    </p:custDataLst>
    <p:extLst>
      <p:ext uri="{BB962C8B-B14F-4D97-AF65-F5344CB8AC3E}">
        <p14:creationId xmlns:p14="http://schemas.microsoft.com/office/powerpoint/2010/main" val="1212236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0" y="610217"/>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Outline</a:t>
            </a:r>
            <a:endParaRPr lang="en-US" sz="2000" dirty="0">
              <a:latin typeface="Lato" panose="020F0502020204030203" pitchFamily="34" charset="0"/>
              <a:cs typeface="Arial" panose="020B0604020202020204" pitchFamily="34" charset="0"/>
            </a:endParaRPr>
          </a:p>
        </p:txBody>
      </p:sp>
      <p:sp>
        <p:nvSpPr>
          <p:cNvPr id="24" name="TextBox 23">
            <a:extLst>
              <a:ext uri="{FF2B5EF4-FFF2-40B4-BE49-F238E27FC236}">
                <a16:creationId xmlns:a16="http://schemas.microsoft.com/office/drawing/2014/main" id="{90865657-EE51-429D-40B6-B64C80E4AB47}"/>
              </a:ext>
            </a:extLst>
          </p:cNvPr>
          <p:cNvSpPr txBox="1"/>
          <p:nvPr/>
        </p:nvSpPr>
        <p:spPr>
          <a:xfrm>
            <a:off x="125239" y="1080603"/>
            <a:ext cx="4446761" cy="3026470"/>
          </a:xfrm>
          <a:prstGeom prst="rect">
            <a:avLst/>
          </a:prstGeom>
          <a:noFill/>
        </p:spPr>
        <p:txBody>
          <a:bodyPr wrap="square">
            <a:spAutoFit/>
          </a:bodyPr>
          <a:lstStyle/>
          <a:p>
            <a:pPr marL="228600" indent="-228600">
              <a:spcAft>
                <a:spcPts val="800"/>
              </a:spcAft>
              <a:buFont typeface="Arial" panose="020B0604020202020204" pitchFamily="34" charset="0"/>
              <a:buChar char="•"/>
              <a:tabLst>
                <a:tab pos="4229100" algn="ctr"/>
              </a:tabLst>
            </a:pPr>
            <a:r>
              <a:rPr lang="en-US" sz="1800" dirty="0">
                <a:solidFill>
                  <a:schemeClr val="tx1"/>
                </a:solidFill>
                <a:effectLst/>
                <a:latin typeface="Lato" panose="020F0502020204030203" pitchFamily="34" charset="0"/>
                <a:ea typeface="Times New Roman" panose="02020603050405020304" pitchFamily="18" charset="0"/>
                <a:cs typeface="Arial" panose="020B0604020202020204" pitchFamily="34" charset="0"/>
              </a:rPr>
              <a:t>Abstract of the Project</a:t>
            </a:r>
            <a:endParaRPr lang="en-IN" sz="1800" dirty="0">
              <a:solidFill>
                <a:schemeClr val="tx1"/>
              </a:solidFill>
              <a:latin typeface="Lato" panose="020F0502020204030203" pitchFamily="34" charset="0"/>
              <a:ea typeface="Times New Roman" panose="02020603050405020304" pitchFamily="18" charset="0"/>
              <a:cs typeface="Arial" panose="020B0604020202020204" pitchFamily="34" charset="0"/>
            </a:endParaRP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Problem Statement</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Proposed Solution</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System Architecture</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Live Demo of the Project</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Embedded Video of Project</a:t>
            </a:r>
          </a:p>
          <a:p>
            <a:pPr marL="228600" indent="-228600">
              <a:spcAft>
                <a:spcPts val="800"/>
              </a:spcAft>
              <a:buFont typeface="Arial" panose="020B0604020202020204" pitchFamily="34" charset="0"/>
              <a:buChar char="•"/>
              <a:tabLst>
                <a:tab pos="4229100" algn="ctr"/>
              </a:tabLst>
            </a:pPr>
            <a:r>
              <a:rPr lang="en-IN" sz="1800" dirty="0">
                <a:latin typeface="Lato" panose="020F0502020204030203" pitchFamily="34" charset="0"/>
                <a:ea typeface="+mn-lt"/>
                <a:cs typeface="Arial" panose="020B0604020202020204" pitchFamily="34" charset="0"/>
              </a:rPr>
              <a:t>Conclusion</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Future Scope</a:t>
            </a:r>
          </a:p>
        </p:txBody>
      </p:sp>
      <p:pic>
        <p:nvPicPr>
          <p:cNvPr id="25" name="Picture 24" descr="A screen shot of a computer&#10;&#10;AI-generated content may be incorrect.">
            <a:extLst>
              <a:ext uri="{FF2B5EF4-FFF2-40B4-BE49-F238E27FC236}">
                <a16:creationId xmlns:a16="http://schemas.microsoft.com/office/drawing/2014/main" id="{C3A7F110-9D19-8523-45D3-77B1951C8835}"/>
              </a:ext>
            </a:extLst>
          </p:cNvPr>
          <p:cNvPicPr>
            <a:picLocks noChangeAspect="1"/>
          </p:cNvPicPr>
          <p:nvPr/>
        </p:nvPicPr>
        <p:blipFill>
          <a:blip r:embed="rId4">
            <a:duotone>
              <a:schemeClr val="accent1">
                <a:shade val="45000"/>
                <a:satMod val="135000"/>
              </a:schemeClr>
              <a:prstClr val="white"/>
            </a:duotone>
          </a:blip>
          <a:srcRect l="25250" t="7320" r="18976" b="28715"/>
          <a:stretch>
            <a:fillRect/>
          </a:stretch>
        </p:blipFill>
        <p:spPr>
          <a:xfrm>
            <a:off x="5378824" y="1034325"/>
            <a:ext cx="2868706" cy="3290047"/>
          </a:xfrm>
          <a:prstGeom prst="rect">
            <a:avLst/>
          </a:prstGeom>
        </p:spPr>
      </p:pic>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224485" y="571151"/>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Abstract</a:t>
            </a:r>
            <a:endParaRPr lang="en-US" sz="2000" dirty="0">
              <a:latin typeface="Lato" panose="020F0502020204030203" pitchFamily="34" charset="0"/>
              <a:cs typeface="Arial" panose="020B0604020202020204" pitchFamily="34" charset="0"/>
            </a:endParaRPr>
          </a:p>
        </p:txBody>
      </p:sp>
      <p:sp>
        <p:nvSpPr>
          <p:cNvPr id="7" name="TextBox 6">
            <a:extLst>
              <a:ext uri="{FF2B5EF4-FFF2-40B4-BE49-F238E27FC236}">
                <a16:creationId xmlns:a16="http://schemas.microsoft.com/office/drawing/2014/main" id="{38849028-F25C-7DA0-DE56-0DC142EECABD}"/>
              </a:ext>
            </a:extLst>
          </p:cNvPr>
          <p:cNvSpPr txBox="1"/>
          <p:nvPr/>
        </p:nvSpPr>
        <p:spPr>
          <a:xfrm>
            <a:off x="125239" y="1253282"/>
            <a:ext cx="5600311" cy="2462213"/>
          </a:xfrm>
          <a:prstGeom prst="rect">
            <a:avLst/>
          </a:prstGeom>
          <a:noFill/>
        </p:spPr>
        <p:txBody>
          <a:bodyPr wrap="square">
            <a:spAutoFit/>
          </a:bodyPr>
          <a:lstStyle/>
          <a:p>
            <a:pPr algn="just"/>
            <a:r>
              <a:rPr lang="en-US" sz="1400" dirty="0">
                <a:latin typeface="Times New Roman" panose="02020603050405020304" pitchFamily="18" charset="0"/>
                <a:cs typeface="Times New Roman" panose="02020603050405020304" pitchFamily="18" charset="0"/>
              </a:rPr>
              <a:t>Edu Pulse AI is an AI-based project that analyzes student feedback to improve teaching quality and institutional performance. It uses Power BI, Copilot, and AI Chatbot to perform sentiment analysis, identify trends, and generate actionable insights. Interactive dashboards and AI recommendations help in data-driven decision-making, making the system efficient and scalable for educational institutions.</a:t>
            </a:r>
          </a:p>
          <a:p>
            <a:pPr algn="just"/>
            <a:r>
              <a:rPr lang="en-US" sz="1400" dirty="0"/>
              <a:t>The platform provides interactive dashboards that visually represent student satisfaction levels, faculty performance, and areas requiring improvement. AI-driven recommendations assist educators and administrators in making informed, data-driven decisions, ultimately enhancing teaching methodologies and learning outcomes.</a:t>
            </a:r>
            <a:endParaRPr lang="en-US" sz="1400" dirty="0">
              <a:latin typeface="Times New Roman" panose="02020603050405020304" pitchFamily="18" charset="0"/>
              <a:cs typeface="Times New Roman" panose="02020603050405020304" pitchFamily="18" charset="0"/>
            </a:endParaRPr>
          </a:p>
        </p:txBody>
      </p:sp>
      <p:sp>
        <p:nvSpPr>
          <p:cNvPr id="2" name="Freeform 28">
            <a:extLst>
              <a:ext uri="{FF2B5EF4-FFF2-40B4-BE49-F238E27FC236}">
                <a16:creationId xmlns:a16="http://schemas.microsoft.com/office/drawing/2014/main" id="{AA7F05EE-340D-A58A-BAD0-FB0660B2D339}"/>
              </a:ext>
            </a:extLst>
          </p:cNvPr>
          <p:cNvSpPr/>
          <p:nvPr/>
        </p:nvSpPr>
        <p:spPr>
          <a:xfrm>
            <a:off x="5687470" y="417321"/>
            <a:ext cx="3070450" cy="2997875"/>
          </a:xfrm>
          <a:custGeom>
            <a:avLst/>
            <a:gdLst/>
            <a:ahLst/>
            <a:cxnLst/>
            <a:rect l="l" t="t" r="r" b="b"/>
            <a:pathLst>
              <a:path w="4114800" h="4017541">
                <a:moveTo>
                  <a:pt x="0" y="0"/>
                </a:moveTo>
                <a:lnTo>
                  <a:pt x="4114800" y="0"/>
                </a:lnTo>
                <a:lnTo>
                  <a:pt x="4114800" y="4017541"/>
                </a:lnTo>
                <a:lnTo>
                  <a:pt x="0" y="401754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27B2E24-A610-1C01-FCDD-9B6B67A72E49}"/>
              </a:ext>
            </a:extLst>
          </p:cNvPr>
          <p:cNvPicPr>
            <a:picLocks noChangeAspect="1"/>
          </p:cNvPicPr>
          <p:nvPr/>
        </p:nvPicPr>
        <p:blipFill>
          <a:blip r:embed="rId4"/>
          <a:stretch>
            <a:fillRect/>
          </a:stretch>
        </p:blipFill>
        <p:spPr>
          <a:xfrm>
            <a:off x="4888151" y="873760"/>
            <a:ext cx="3947240" cy="3947240"/>
          </a:xfrm>
          <a:prstGeom prst="rect">
            <a:avLst/>
          </a:prstGeom>
        </p:spPr>
      </p:pic>
      <p:sp>
        <p:nvSpPr>
          <p:cNvPr id="4" name="Text 2"/>
          <p:cNvSpPr/>
          <p:nvPr/>
        </p:nvSpPr>
        <p:spPr>
          <a:xfrm>
            <a:off x="120623" y="611286"/>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Problem Statement</a:t>
            </a:r>
            <a:endParaRPr lang="en-US" sz="2000" dirty="0">
              <a:latin typeface="Lato" panose="020F0502020204030203" pitchFamily="34" charset="0"/>
              <a:cs typeface="Arial" panose="020B0604020202020204" pitchFamily="34" charset="0"/>
            </a:endParaRPr>
          </a:p>
        </p:txBody>
      </p:sp>
      <p:sp>
        <p:nvSpPr>
          <p:cNvPr id="6" name="TextBox 5">
            <a:extLst>
              <a:ext uri="{FF2B5EF4-FFF2-40B4-BE49-F238E27FC236}">
                <a16:creationId xmlns:a16="http://schemas.microsoft.com/office/drawing/2014/main" id="{EE76AC24-5CB7-D860-6A01-E6D8ABD38610}"/>
              </a:ext>
            </a:extLst>
          </p:cNvPr>
          <p:cNvSpPr txBox="1"/>
          <p:nvPr/>
        </p:nvSpPr>
        <p:spPr>
          <a:xfrm>
            <a:off x="125241" y="1082801"/>
            <a:ext cx="4762910" cy="2308324"/>
          </a:xfrm>
          <a:prstGeom prst="rect">
            <a:avLst/>
          </a:prstGeom>
          <a:noFill/>
        </p:spPr>
        <p:txBody>
          <a:bodyPr wrap="square">
            <a:spAutoFit/>
          </a:bodyPr>
          <a:lstStyle/>
          <a:p>
            <a:pPr algn="just"/>
            <a:r>
              <a:rPr lang="en-US" sz="1400" dirty="0">
                <a:latin typeface="Times New Roman" panose="02020603050405020304" pitchFamily="18" charset="0"/>
                <a:cs typeface="Times New Roman" panose="02020603050405020304" pitchFamily="18" charset="0"/>
              </a:rPr>
              <a:t>Student feedback in educational institutions is often </a:t>
            </a:r>
            <a:r>
              <a:rPr lang="en-US" sz="1400" b="1" dirty="0">
                <a:latin typeface="Times New Roman" panose="02020603050405020304" pitchFamily="18" charset="0"/>
                <a:cs typeface="Times New Roman" panose="02020603050405020304" pitchFamily="18" charset="0"/>
              </a:rPr>
              <a:t>unstructured and underutilized</a:t>
            </a:r>
            <a:r>
              <a:rPr lang="en-US" sz="1400" dirty="0">
                <a:latin typeface="Times New Roman" panose="02020603050405020304" pitchFamily="18" charset="0"/>
                <a:cs typeface="Times New Roman" panose="02020603050405020304" pitchFamily="18" charset="0"/>
              </a:rPr>
              <a:t>, making it difficult to extract meaningful insights. This affects </a:t>
            </a:r>
            <a:r>
              <a:rPr lang="en-US" sz="1400" b="1" dirty="0">
                <a:latin typeface="Times New Roman" panose="02020603050405020304" pitchFamily="18" charset="0"/>
                <a:cs typeface="Times New Roman" panose="02020603050405020304" pitchFamily="18" charset="0"/>
              </a:rPr>
              <a:t>faculty improvement and decision-making</a:t>
            </a:r>
            <a:r>
              <a:rPr lang="en-US" sz="1400" dirty="0">
                <a:latin typeface="Times New Roman" panose="02020603050405020304" pitchFamily="18" charset="0"/>
                <a:cs typeface="Times New Roman" panose="02020603050405020304" pitchFamily="18" charset="0"/>
              </a:rPr>
              <a:t>.</a:t>
            </a:r>
          </a:p>
          <a:p>
            <a:pPr algn="just"/>
            <a:r>
              <a:rPr lang="en-US" sz="1400" dirty="0">
                <a:latin typeface="Times New Roman" panose="02020603050405020304" pitchFamily="18" charset="0"/>
                <a:cs typeface="Times New Roman" panose="02020603050405020304" pitchFamily="18" charset="0"/>
              </a:rPr>
              <a:t>Existing tools provide </a:t>
            </a:r>
            <a:r>
              <a:rPr lang="en-US" sz="1400" b="1" dirty="0">
                <a:latin typeface="Times New Roman" panose="02020603050405020304" pitchFamily="18" charset="0"/>
                <a:cs typeface="Times New Roman" panose="02020603050405020304" pitchFamily="18" charset="0"/>
              </a:rPr>
              <a:t>limited analysis and lack AI-based insights</a:t>
            </a:r>
            <a:r>
              <a:rPr lang="en-US" sz="1400" dirty="0">
                <a:latin typeface="Times New Roman" panose="02020603050405020304" pitchFamily="18" charset="0"/>
                <a:cs typeface="Times New Roman" panose="02020603050405020304" pitchFamily="18" charset="0"/>
              </a:rPr>
              <a:t>.</a:t>
            </a:r>
          </a:p>
          <a:p>
            <a:pPr algn="just"/>
            <a:r>
              <a:rPr lang="en-US" sz="1400" dirty="0">
                <a:latin typeface="Times New Roman" panose="02020603050405020304" pitchFamily="18" charset="0"/>
                <a:cs typeface="Times New Roman" panose="02020603050405020304" pitchFamily="18" charset="0"/>
              </a:rPr>
              <a:t>This project focuses on </a:t>
            </a:r>
            <a:r>
              <a:rPr lang="en-US" sz="1400" b="1" dirty="0">
                <a:latin typeface="Times New Roman" panose="02020603050405020304" pitchFamily="18" charset="0"/>
                <a:cs typeface="Times New Roman" panose="02020603050405020304" pitchFamily="18" charset="0"/>
              </a:rPr>
              <a:t>analyzing feedback using Power BI, Copilot, and AI Chatbot</a:t>
            </a:r>
            <a:r>
              <a:rPr lang="en-US" sz="1400" dirty="0">
                <a:latin typeface="Times New Roman" panose="02020603050405020304" pitchFamily="18" charset="0"/>
                <a:cs typeface="Times New Roman" panose="02020603050405020304" pitchFamily="18" charset="0"/>
              </a:rPr>
              <a:t> to generate actionable insights, but does not include real-time or predictive analysis.</a:t>
            </a:r>
          </a:p>
          <a:p>
            <a:pPr marL="228600" indent="-228600">
              <a:spcAft>
                <a:spcPts val="800"/>
              </a:spcAft>
              <a:buFont typeface="Arial" panose="020B0604020202020204" pitchFamily="34" charset="0"/>
              <a:buChar char="•"/>
              <a:tabLst>
                <a:tab pos="4229100" algn="ctr"/>
              </a:tabLst>
            </a:pPr>
            <a:endParaRPr lang="en-US" dirty="0">
              <a:latin typeface="Lato" panose="020F0502020204030203" pitchFamily="34" charset="0"/>
              <a:ea typeface="+mn-lt"/>
              <a:cs typeface="Arial" panose="020B0604020202020204" pitchFamily="34" charset="0"/>
            </a:endParaRPr>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1F49F94-4102-44CC-056B-FA1BB4DA8DA6}"/>
              </a:ext>
            </a:extLst>
          </p:cNvPr>
          <p:cNvPicPr>
            <a:picLocks noChangeAspect="1"/>
          </p:cNvPicPr>
          <p:nvPr/>
        </p:nvPicPr>
        <p:blipFill>
          <a:blip r:embed="rId4"/>
          <a:stretch>
            <a:fillRect/>
          </a:stretch>
        </p:blipFill>
        <p:spPr>
          <a:xfrm>
            <a:off x="4526280" y="725532"/>
            <a:ext cx="3714994" cy="4203183"/>
          </a:xfrm>
          <a:prstGeom prst="rect">
            <a:avLst/>
          </a:prstGeom>
        </p:spPr>
      </p:pic>
      <p:sp>
        <p:nvSpPr>
          <p:cNvPr id="4" name="Text 2"/>
          <p:cNvSpPr/>
          <p:nvPr/>
        </p:nvSpPr>
        <p:spPr>
          <a:xfrm>
            <a:off x="125486" y="616930"/>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Proposed Solution</a:t>
            </a:r>
            <a:endParaRPr lang="en-US" sz="2000" dirty="0">
              <a:latin typeface="Lato" panose="020F0502020204030203" pitchFamily="34" charset="0"/>
              <a:cs typeface="Arial" panose="020B0604020202020204" pitchFamily="34" charset="0"/>
            </a:endParaRPr>
          </a:p>
        </p:txBody>
      </p:sp>
      <p:sp>
        <p:nvSpPr>
          <p:cNvPr id="16" name="Text 14"/>
          <p:cNvSpPr/>
          <p:nvPr/>
        </p:nvSpPr>
        <p:spPr>
          <a:xfrm>
            <a:off x="4846320" y="1280160"/>
            <a:ext cx="3931920" cy="1828800"/>
          </a:xfrm>
          <a:prstGeom prst="rect">
            <a:avLst/>
          </a:prstGeom>
          <a:noFill/>
          <a:ln/>
        </p:spPr>
        <p:txBody>
          <a:bodyPr wrap="square" rtlCol="0" anchor="ctr"/>
          <a:lstStyle/>
          <a:p>
            <a:pPr marL="0" indent="0" algn="ctr">
              <a:buNone/>
            </a:pPr>
            <a:endParaRPr lang="en-US" sz="8000" dirty="0"/>
          </a:p>
        </p:txBody>
      </p:sp>
      <p:sp>
        <p:nvSpPr>
          <p:cNvPr id="5" name="Text 12"/>
          <p:cNvSpPr/>
          <p:nvPr/>
        </p:nvSpPr>
        <p:spPr>
          <a:xfrm>
            <a:off x="125485" y="1280160"/>
            <a:ext cx="5044391" cy="2661920"/>
          </a:xfrm>
          <a:prstGeom prst="rect">
            <a:avLst/>
          </a:prstGeom>
          <a:noFill/>
          <a:ln/>
        </p:spPr>
        <p:txBody>
          <a:bodyPr wrap="square" rtlCol="0" anchor="t"/>
          <a:lstStyle/>
          <a:p>
            <a:pPr algn="just"/>
            <a:r>
              <a:rPr lang="en-US" sz="1400" dirty="0">
                <a:latin typeface="Times New Roman" panose="02020603050405020304" pitchFamily="18" charset="0"/>
                <a:cs typeface="Times New Roman" panose="02020603050405020304" pitchFamily="18" charset="0"/>
              </a:rPr>
              <a:t>Edu Pulse AI is an AI-based system that transforms student feedback into actionable insights using Power BI, Copilot, and AI Chatbot.</a:t>
            </a:r>
          </a:p>
          <a:p>
            <a:pPr algn="just"/>
            <a:r>
              <a:rPr lang="en-US" sz="1400" dirty="0">
                <a:latin typeface="Times New Roman" panose="02020603050405020304" pitchFamily="18" charset="0"/>
                <a:cs typeface="Times New Roman" panose="02020603050405020304" pitchFamily="18" charset="0"/>
              </a:rPr>
              <a:t>It collects and </a:t>
            </a:r>
            <a:r>
              <a:rPr lang="en-US" sz="1400" dirty="0" err="1">
                <a:latin typeface="Times New Roman" panose="02020603050405020304" pitchFamily="18" charset="0"/>
                <a:cs typeface="Times New Roman" panose="02020603050405020304" pitchFamily="18" charset="0"/>
              </a:rPr>
              <a:t>cleEdans</a:t>
            </a:r>
            <a:r>
              <a:rPr lang="en-US" sz="1400" dirty="0">
                <a:latin typeface="Times New Roman" panose="02020603050405020304" pitchFamily="18" charset="0"/>
                <a:cs typeface="Times New Roman" panose="02020603050405020304" pitchFamily="18" charset="0"/>
              </a:rPr>
              <a:t> feedback data, then applies sentiment analysis and AI techniques to identify trends and improvement areas.</a:t>
            </a:r>
          </a:p>
          <a:p>
            <a:pPr algn="just"/>
            <a:r>
              <a:rPr lang="en-US" sz="1400" dirty="0">
                <a:latin typeface="Times New Roman" panose="02020603050405020304" pitchFamily="18" charset="0"/>
                <a:cs typeface="Times New Roman" panose="02020603050405020304" pitchFamily="18" charset="0"/>
              </a:rPr>
              <a:t>Interactive dashboards provide faculty comparison, sentiment trends, and data-driven recommendations.</a:t>
            </a:r>
          </a:p>
          <a:p>
            <a:pPr algn="just"/>
            <a:r>
              <a:rPr lang="en-US" sz="1400" dirty="0">
                <a:latin typeface="Times New Roman" panose="02020603050405020304" pitchFamily="18" charset="0"/>
                <a:cs typeface="Times New Roman" panose="02020603050405020304" pitchFamily="18" charset="0"/>
              </a:rPr>
              <a:t>The system offers </a:t>
            </a:r>
            <a:r>
              <a:rPr lang="en-US" sz="1400" b="1" dirty="0">
                <a:latin typeface="Times New Roman" panose="02020603050405020304" pitchFamily="18" charset="0"/>
                <a:cs typeface="Times New Roman" panose="02020603050405020304" pitchFamily="18" charset="0"/>
              </a:rPr>
              <a:t>multilingual analysis, AI-generated suggestions, and better decision-making</a:t>
            </a:r>
            <a:r>
              <a:rPr lang="en-US" sz="1400" dirty="0">
                <a:latin typeface="Times New Roman" panose="02020603050405020304" pitchFamily="18" charset="0"/>
                <a:cs typeface="Times New Roman" panose="02020603050405020304" pitchFamily="18" charset="0"/>
              </a:rPr>
              <a:t>, helping improve teaching quality and student satisfaction.</a:t>
            </a:r>
          </a:p>
          <a:p>
            <a:pPr marL="0" indent="0">
              <a:buNone/>
            </a:pPr>
            <a:endParaRPr lang="en-US" sz="900" dirty="0">
              <a:latin typeface="Times New Roman" panose="02020603050405020304" pitchFamily="18" charset="0"/>
              <a:cs typeface="Times New Roman" panose="02020603050405020304" pitchFamily="18" charset="0"/>
            </a:endParaRPr>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0" y="602920"/>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System Architecture</a:t>
            </a:r>
            <a:endParaRPr lang="en-US" sz="2000" dirty="0">
              <a:latin typeface="Lato" panose="020F0502020204030203" pitchFamily="34" charset="0"/>
              <a:cs typeface="Arial" panose="020B0604020202020204" pitchFamily="34" charset="0"/>
            </a:endParaRPr>
          </a:p>
        </p:txBody>
      </p:sp>
      <p:sp>
        <p:nvSpPr>
          <p:cNvPr id="6" name="Shape 4"/>
          <p:cNvSpPr/>
          <p:nvPr/>
        </p:nvSpPr>
        <p:spPr>
          <a:xfrm>
            <a:off x="235408" y="1243200"/>
            <a:ext cx="4114800" cy="384048"/>
          </a:xfrm>
          <a:prstGeom prst="rect">
            <a:avLst/>
          </a:prstGeom>
          <a:solidFill>
            <a:schemeClr val="accent1">
              <a:lumMod val="20000"/>
              <a:lumOff val="80000"/>
            </a:schemeClr>
          </a:solidFill>
          <a:ln/>
        </p:spPr>
        <p:txBody>
          <a:bodyPr/>
          <a:lstStyle/>
          <a:p>
            <a:endParaRPr lang="en-IN">
              <a:latin typeface="Lato" panose="020F0502020204030203" pitchFamily="34" charset="0"/>
            </a:endParaRPr>
          </a:p>
        </p:txBody>
      </p:sp>
      <p:sp>
        <p:nvSpPr>
          <p:cNvPr id="7" name="Shape 5"/>
          <p:cNvSpPr/>
          <p:nvPr/>
        </p:nvSpPr>
        <p:spPr>
          <a:xfrm>
            <a:off x="4167328" y="1243200"/>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8" name="Text 6"/>
          <p:cNvSpPr/>
          <p:nvPr/>
        </p:nvSpPr>
        <p:spPr>
          <a:xfrm>
            <a:off x="326848" y="1279776"/>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Data Input / Source</a:t>
            </a:r>
            <a:endParaRPr lang="en-US" sz="1600" dirty="0">
              <a:latin typeface="Lato" panose="020F0502020204030203" pitchFamily="34" charset="0"/>
              <a:cs typeface="Arial" panose="020B0604020202020204" pitchFamily="34" charset="0"/>
            </a:endParaRPr>
          </a:p>
        </p:txBody>
      </p:sp>
      <p:sp>
        <p:nvSpPr>
          <p:cNvPr id="9" name="Text 7"/>
          <p:cNvSpPr/>
          <p:nvPr/>
        </p:nvSpPr>
        <p:spPr>
          <a:xfrm>
            <a:off x="326848" y="1700400"/>
            <a:ext cx="4023360" cy="1188720"/>
          </a:xfrm>
          <a:prstGeom prst="rect">
            <a:avLst/>
          </a:prstGeom>
          <a:noFill/>
          <a:ln/>
        </p:spPr>
        <p:txBody>
          <a:bodyPr wrap="square" rtlCol="0" anchor="t"/>
          <a:lstStyle/>
          <a:p>
            <a:pPr algn="just"/>
            <a:r>
              <a:rPr lang="en-US" sz="900" dirty="0">
                <a:latin typeface="Times New Roman" panose="02020603050405020304" pitchFamily="18" charset="0"/>
                <a:cs typeface="Times New Roman" panose="02020603050405020304" pitchFamily="18" charset="0"/>
              </a:rPr>
              <a:t>The system collects data from multiple sources including </a:t>
            </a:r>
            <a:r>
              <a:rPr lang="en-US" sz="900" b="1" dirty="0">
                <a:latin typeface="Times New Roman" panose="02020603050405020304" pitchFamily="18" charset="0"/>
                <a:cs typeface="Times New Roman" panose="02020603050405020304" pitchFamily="18" charset="0"/>
              </a:rPr>
              <a:t>raw files, databases, APIs, and user uploads</a:t>
            </a:r>
            <a:r>
              <a:rPr lang="en-US" sz="900" dirty="0">
                <a:latin typeface="Times New Roman" panose="02020603050405020304" pitchFamily="18" charset="0"/>
                <a:cs typeface="Times New Roman" panose="02020603050405020304" pitchFamily="18" charset="0"/>
              </a:rPr>
              <a:t>. Raw data is gathered from </a:t>
            </a:r>
            <a:r>
              <a:rPr lang="en-US" sz="900" b="1" dirty="0">
                <a:latin typeface="Times New Roman" panose="02020603050405020304" pitchFamily="18" charset="0"/>
                <a:cs typeface="Times New Roman" panose="02020603050405020304" pitchFamily="18" charset="0"/>
              </a:rPr>
              <a:t>Excel, CSV files, and Google Form responses</a:t>
            </a:r>
            <a:r>
              <a:rPr lang="en-US" sz="900" dirty="0">
                <a:latin typeface="Times New Roman" panose="02020603050405020304" pitchFamily="18" charset="0"/>
                <a:cs typeface="Times New Roman" panose="02020603050405020304" pitchFamily="18" charset="0"/>
              </a:rPr>
              <a:t> containing student ratings and feedback comments. Historical feedback can be extracted from </a:t>
            </a:r>
            <a:r>
              <a:rPr lang="en-US" sz="900" b="1" dirty="0">
                <a:latin typeface="Times New Roman" panose="02020603050405020304" pitchFamily="18" charset="0"/>
                <a:cs typeface="Times New Roman" panose="02020603050405020304" pitchFamily="18" charset="0"/>
              </a:rPr>
              <a:t>institutional databases or Learning Management Systems (LMS)</a:t>
            </a:r>
            <a:r>
              <a:rPr lang="en-US" sz="900" dirty="0">
                <a:latin typeface="Times New Roman" panose="02020603050405020304" pitchFamily="18" charset="0"/>
                <a:cs typeface="Times New Roman" panose="02020603050405020304" pitchFamily="18" charset="0"/>
              </a:rPr>
              <a:t>. Data can also be retrieved using </a:t>
            </a:r>
            <a:r>
              <a:rPr lang="en-US" sz="900" b="1" dirty="0">
                <a:latin typeface="Times New Roman" panose="02020603050405020304" pitchFamily="18" charset="0"/>
                <a:cs typeface="Times New Roman" panose="02020603050405020304" pitchFamily="18" charset="0"/>
              </a:rPr>
              <a:t>APIs such as Google Forms or Microsoft Forms</a:t>
            </a:r>
            <a:r>
              <a:rPr lang="en-US" sz="900" dirty="0">
                <a:latin typeface="Times New Roman" panose="02020603050405020304" pitchFamily="18" charset="0"/>
                <a:cs typeface="Times New Roman" panose="02020603050405020304" pitchFamily="18" charset="0"/>
              </a:rPr>
              <a:t> for automated updates. Additionally, </a:t>
            </a:r>
            <a:r>
              <a:rPr lang="en-US" sz="900" b="1" dirty="0">
                <a:latin typeface="Times New Roman" panose="02020603050405020304" pitchFamily="18" charset="0"/>
                <a:cs typeface="Times New Roman" panose="02020603050405020304" pitchFamily="18" charset="0"/>
              </a:rPr>
              <a:t>manual uploads</a:t>
            </a:r>
            <a:r>
              <a:rPr lang="en-US" sz="900" dirty="0">
                <a:latin typeface="Times New Roman" panose="02020603050405020304" pitchFamily="18" charset="0"/>
                <a:cs typeface="Times New Roman" panose="02020603050405020304" pitchFamily="18" charset="0"/>
              </a:rPr>
              <a:t> of institutional or simulated datasets are supported. The collected data is then processed using </a:t>
            </a:r>
            <a:r>
              <a:rPr lang="en-US" sz="900" b="1" dirty="0">
                <a:latin typeface="Times New Roman" panose="02020603050405020304" pitchFamily="18" charset="0"/>
                <a:cs typeface="Times New Roman" panose="02020603050405020304" pitchFamily="18" charset="0"/>
              </a:rPr>
              <a:t>Excel, Power Query, and Power BI</a:t>
            </a:r>
            <a:r>
              <a:rPr lang="en-US" sz="900" dirty="0">
                <a:latin typeface="Times New Roman" panose="02020603050405020304" pitchFamily="18" charset="0"/>
                <a:cs typeface="Times New Roman" panose="02020603050405020304" pitchFamily="18" charset="0"/>
              </a:rPr>
              <a:t> for further analysis.</a:t>
            </a:r>
          </a:p>
        </p:txBody>
      </p:sp>
      <p:sp>
        <p:nvSpPr>
          <p:cNvPr id="10" name="Shape 8"/>
          <p:cNvSpPr/>
          <p:nvPr/>
        </p:nvSpPr>
        <p:spPr>
          <a:xfrm>
            <a:off x="4670248" y="1243200"/>
            <a:ext cx="4114800" cy="384048"/>
          </a:xfrm>
          <a:prstGeom prst="rect">
            <a:avLst/>
          </a:prstGeom>
          <a:solidFill>
            <a:schemeClr val="accent1">
              <a:lumMod val="20000"/>
              <a:lumOff val="80000"/>
            </a:schemeClr>
          </a:solidFill>
          <a:ln/>
        </p:spPr>
        <p:txBody>
          <a:bodyPr/>
          <a:lstStyle/>
          <a:p>
            <a:endParaRPr lang="en-IN" sz="1600">
              <a:latin typeface="Lato" panose="020F0502020204030203" pitchFamily="34" charset="0"/>
              <a:cs typeface="Arial" panose="020B0604020202020204" pitchFamily="34" charset="0"/>
            </a:endParaRPr>
          </a:p>
        </p:txBody>
      </p:sp>
      <p:sp>
        <p:nvSpPr>
          <p:cNvPr id="11" name="Shape 9"/>
          <p:cNvSpPr/>
          <p:nvPr/>
        </p:nvSpPr>
        <p:spPr>
          <a:xfrm>
            <a:off x="8602168" y="1243200"/>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12" name="Text 10"/>
          <p:cNvSpPr/>
          <p:nvPr/>
        </p:nvSpPr>
        <p:spPr>
          <a:xfrm>
            <a:off x="4761688" y="1279776"/>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Processing / Analysis</a:t>
            </a:r>
            <a:endParaRPr lang="en-US" sz="1600" dirty="0">
              <a:latin typeface="Lato" panose="020F0502020204030203" pitchFamily="34" charset="0"/>
              <a:cs typeface="Arial" panose="020B0604020202020204" pitchFamily="34" charset="0"/>
            </a:endParaRPr>
          </a:p>
        </p:txBody>
      </p:sp>
      <p:sp>
        <p:nvSpPr>
          <p:cNvPr id="13" name="Text 11"/>
          <p:cNvSpPr/>
          <p:nvPr/>
        </p:nvSpPr>
        <p:spPr>
          <a:xfrm>
            <a:off x="4761688" y="1700400"/>
            <a:ext cx="4023360" cy="1188720"/>
          </a:xfrm>
          <a:prstGeom prst="rect">
            <a:avLst/>
          </a:prstGeom>
          <a:noFill/>
          <a:ln/>
        </p:spPr>
        <p:txBody>
          <a:bodyPr wrap="square" rtlCol="0" anchor="t"/>
          <a:lstStyle/>
          <a:p>
            <a:pPr algn="just"/>
            <a:r>
              <a:rPr lang="en-US" sz="1100" dirty="0">
                <a:latin typeface="Times New Roman" panose="02020603050405020304" pitchFamily="18" charset="0"/>
                <a:cs typeface="Times New Roman" panose="02020603050405020304" pitchFamily="18" charset="0"/>
              </a:rPr>
              <a:t>The collected data is cleaned and transformed using </a:t>
            </a:r>
            <a:r>
              <a:rPr lang="en-US" sz="1100" b="1" dirty="0">
                <a:latin typeface="Times New Roman" panose="02020603050405020304" pitchFamily="18" charset="0"/>
                <a:cs typeface="Times New Roman" panose="02020603050405020304" pitchFamily="18" charset="0"/>
              </a:rPr>
              <a:t>Power Query in Excel and Power BI</a:t>
            </a:r>
            <a:r>
              <a:rPr lang="en-US" sz="1100" dirty="0">
                <a:latin typeface="Times New Roman" panose="02020603050405020304" pitchFamily="18" charset="0"/>
                <a:cs typeface="Times New Roman" panose="02020603050405020304" pitchFamily="18" charset="0"/>
              </a:rPr>
              <a:t>. Text feedback is analyzed using </a:t>
            </a:r>
            <a:r>
              <a:rPr lang="en-US" sz="1100" b="1" dirty="0">
                <a:latin typeface="Times New Roman" panose="02020603050405020304" pitchFamily="18" charset="0"/>
                <a:cs typeface="Times New Roman" panose="02020603050405020304" pitchFamily="18" charset="0"/>
              </a:rPr>
              <a:t>AI-based sentiment analysis, keyword extraction, and topic modeling</a:t>
            </a:r>
            <a:r>
              <a:rPr lang="en-US" sz="1100" dirty="0">
                <a:latin typeface="Times New Roman" panose="02020603050405020304" pitchFamily="18" charset="0"/>
                <a:cs typeface="Times New Roman" panose="02020603050405020304" pitchFamily="18" charset="0"/>
              </a:rPr>
              <a:t> to identify trends and student concerns. The processed data is then used to generate </a:t>
            </a:r>
            <a:r>
              <a:rPr lang="en-US" sz="1100" b="1" dirty="0">
                <a:latin typeface="Times New Roman" panose="02020603050405020304" pitchFamily="18" charset="0"/>
                <a:cs typeface="Times New Roman" panose="02020603050405020304" pitchFamily="18" charset="0"/>
              </a:rPr>
              <a:t>insights, recommendations, and interactive dashboards</a:t>
            </a:r>
            <a:r>
              <a:rPr lang="en-US" sz="1100" dirty="0">
                <a:latin typeface="Times New Roman" panose="02020603050405020304" pitchFamily="18" charset="0"/>
                <a:cs typeface="Times New Roman" panose="02020603050405020304" pitchFamily="18" charset="0"/>
              </a:rPr>
              <a:t> for teaching improvement.</a:t>
            </a:r>
          </a:p>
        </p:txBody>
      </p:sp>
      <p:sp>
        <p:nvSpPr>
          <p:cNvPr id="14" name="Shape 12"/>
          <p:cNvSpPr/>
          <p:nvPr/>
        </p:nvSpPr>
        <p:spPr>
          <a:xfrm>
            <a:off x="235408" y="2969856"/>
            <a:ext cx="4114800" cy="384048"/>
          </a:xfrm>
          <a:prstGeom prst="rect">
            <a:avLst/>
          </a:prstGeom>
          <a:solidFill>
            <a:schemeClr val="accent1">
              <a:lumMod val="20000"/>
              <a:lumOff val="80000"/>
            </a:schemeClr>
          </a:solidFill>
          <a:ln/>
        </p:spPr>
        <p:txBody>
          <a:bodyPr/>
          <a:lstStyle/>
          <a:p>
            <a:endParaRPr lang="en-IN">
              <a:latin typeface="Lato" panose="020F0502020204030203" pitchFamily="34" charset="0"/>
            </a:endParaRPr>
          </a:p>
        </p:txBody>
      </p:sp>
      <p:sp>
        <p:nvSpPr>
          <p:cNvPr id="15" name="Shape 13"/>
          <p:cNvSpPr/>
          <p:nvPr/>
        </p:nvSpPr>
        <p:spPr>
          <a:xfrm>
            <a:off x="4167328" y="2969856"/>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16" name="Text 14"/>
          <p:cNvSpPr/>
          <p:nvPr/>
        </p:nvSpPr>
        <p:spPr>
          <a:xfrm>
            <a:off x="326848" y="3006432"/>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AI / Tool Integration</a:t>
            </a:r>
            <a:endParaRPr lang="en-US" sz="1600" dirty="0">
              <a:latin typeface="Lato" panose="020F0502020204030203" pitchFamily="34" charset="0"/>
              <a:cs typeface="Arial" panose="020B0604020202020204" pitchFamily="34" charset="0"/>
            </a:endParaRPr>
          </a:p>
        </p:txBody>
      </p:sp>
      <p:sp>
        <p:nvSpPr>
          <p:cNvPr id="17" name="Text 15"/>
          <p:cNvSpPr/>
          <p:nvPr/>
        </p:nvSpPr>
        <p:spPr>
          <a:xfrm>
            <a:off x="326848" y="3427056"/>
            <a:ext cx="4023360" cy="1188720"/>
          </a:xfrm>
          <a:prstGeom prst="rect">
            <a:avLst/>
          </a:prstGeom>
          <a:noFill/>
          <a:ln/>
        </p:spPr>
        <p:txBody>
          <a:bodyPr wrap="square" rtlCol="0" anchor="t"/>
          <a:lstStyle/>
          <a:p>
            <a:pPr algn="just"/>
            <a:r>
              <a:rPr lang="en-US" sz="1000" b="1" dirty="0">
                <a:latin typeface="Times New Roman" panose="02020603050405020304" pitchFamily="18" charset="0"/>
                <a:cs typeface="Times New Roman" panose="02020603050405020304" pitchFamily="18" charset="0"/>
              </a:rPr>
              <a:t>Excel</a:t>
            </a:r>
            <a:r>
              <a:rPr lang="en-US" sz="1000" dirty="0">
                <a:latin typeface="Times New Roman" panose="02020603050405020304" pitchFamily="18" charset="0"/>
                <a:cs typeface="Times New Roman" panose="02020603050405020304" pitchFamily="18" charset="0"/>
              </a:rPr>
              <a:t> is used to collect and organize student feedback data. </a:t>
            </a:r>
            <a:r>
              <a:rPr lang="en-US" sz="1000" b="1" dirty="0">
                <a:latin typeface="Times New Roman" panose="02020603050405020304" pitchFamily="18" charset="0"/>
                <a:cs typeface="Times New Roman" panose="02020603050405020304" pitchFamily="18" charset="0"/>
              </a:rPr>
              <a:t>Power Query</a:t>
            </a:r>
            <a:r>
              <a:rPr lang="en-US" sz="1000" dirty="0">
                <a:latin typeface="Times New Roman" panose="02020603050405020304" pitchFamily="18" charset="0"/>
                <a:cs typeface="Times New Roman" panose="02020603050405020304" pitchFamily="18" charset="0"/>
              </a:rPr>
              <a:t> is applied for data cleaning and transformation. </a:t>
            </a:r>
            <a:r>
              <a:rPr lang="en-US" sz="1000" b="1" dirty="0">
                <a:latin typeface="Times New Roman" panose="02020603050405020304" pitchFamily="18" charset="0"/>
                <a:cs typeface="Times New Roman" panose="02020603050405020304" pitchFamily="18" charset="0"/>
              </a:rPr>
              <a:t>Power BI</a:t>
            </a:r>
            <a:r>
              <a:rPr lang="en-US" sz="1000" dirty="0">
                <a:latin typeface="Times New Roman" panose="02020603050405020304" pitchFamily="18" charset="0"/>
                <a:cs typeface="Times New Roman" panose="02020603050405020304" pitchFamily="18" charset="0"/>
              </a:rPr>
              <a:t> is used to create interactive dashboards and visualize sentiment trends, comparisons, and insights. </a:t>
            </a:r>
            <a:r>
              <a:rPr lang="en-US" sz="1000" b="1" dirty="0">
                <a:latin typeface="Times New Roman" panose="02020603050405020304" pitchFamily="18" charset="0"/>
                <a:cs typeface="Times New Roman" panose="02020603050405020304" pitchFamily="18" charset="0"/>
              </a:rPr>
              <a:t>Microsoft Copilot / AI Chatbot</a:t>
            </a:r>
            <a:r>
              <a:rPr lang="en-US" sz="1000" dirty="0">
                <a:latin typeface="Times New Roman" panose="02020603050405020304" pitchFamily="18" charset="0"/>
                <a:cs typeface="Times New Roman" panose="02020603050405020304" pitchFamily="18" charset="0"/>
              </a:rPr>
              <a:t> is integrated to perform sentiment analysis, generate faculty-specific recommendations, and summarize student feedback. This integration enables automated analysis and data-driven decision-making for teaching improvement.</a:t>
            </a:r>
          </a:p>
        </p:txBody>
      </p:sp>
      <p:sp>
        <p:nvSpPr>
          <p:cNvPr id="18" name="Shape 16"/>
          <p:cNvSpPr/>
          <p:nvPr/>
        </p:nvSpPr>
        <p:spPr>
          <a:xfrm>
            <a:off x="4670248" y="2969856"/>
            <a:ext cx="4114800" cy="384048"/>
          </a:xfrm>
          <a:prstGeom prst="rect">
            <a:avLst/>
          </a:prstGeom>
          <a:solidFill>
            <a:schemeClr val="accent1">
              <a:lumMod val="20000"/>
              <a:lumOff val="80000"/>
            </a:schemeClr>
          </a:solidFill>
          <a:ln/>
        </p:spPr>
        <p:txBody>
          <a:bodyPr/>
          <a:lstStyle/>
          <a:p>
            <a:endParaRPr lang="en-IN">
              <a:latin typeface="Lato" panose="020F0502020204030203" pitchFamily="34" charset="0"/>
            </a:endParaRPr>
          </a:p>
        </p:txBody>
      </p:sp>
      <p:sp>
        <p:nvSpPr>
          <p:cNvPr id="19" name="Shape 17"/>
          <p:cNvSpPr/>
          <p:nvPr/>
        </p:nvSpPr>
        <p:spPr>
          <a:xfrm>
            <a:off x="8602168" y="2969856"/>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20" name="Text 18"/>
          <p:cNvSpPr/>
          <p:nvPr/>
        </p:nvSpPr>
        <p:spPr>
          <a:xfrm>
            <a:off x="4761688" y="3006432"/>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Output / Dashboard</a:t>
            </a:r>
            <a:endParaRPr lang="en-US" sz="1600" dirty="0">
              <a:latin typeface="Lato" panose="020F0502020204030203" pitchFamily="34" charset="0"/>
              <a:cs typeface="Arial" panose="020B0604020202020204" pitchFamily="34" charset="0"/>
            </a:endParaRPr>
          </a:p>
        </p:txBody>
      </p:sp>
      <p:sp>
        <p:nvSpPr>
          <p:cNvPr id="21" name="Text 19"/>
          <p:cNvSpPr/>
          <p:nvPr/>
        </p:nvSpPr>
        <p:spPr>
          <a:xfrm>
            <a:off x="4761688" y="3427056"/>
            <a:ext cx="4023360" cy="1188720"/>
          </a:xfrm>
          <a:prstGeom prst="rect">
            <a:avLst/>
          </a:prstGeom>
          <a:noFill/>
          <a:ln/>
        </p:spPr>
        <p:txBody>
          <a:bodyPr wrap="square" rtlCol="0" anchor="t"/>
          <a:lstStyle/>
          <a:p>
            <a:pPr algn="just"/>
            <a:r>
              <a:rPr lang="en-US" sz="1100" dirty="0">
                <a:latin typeface="Times New Roman" panose="02020603050405020304" pitchFamily="18" charset="0"/>
                <a:cs typeface="Times New Roman" panose="02020603050405020304" pitchFamily="18" charset="0"/>
              </a:rPr>
              <a:t>The final output is an </a:t>
            </a:r>
            <a:r>
              <a:rPr lang="en-US" sz="1100" b="1" dirty="0">
                <a:latin typeface="Times New Roman" panose="02020603050405020304" pitchFamily="18" charset="0"/>
                <a:cs typeface="Times New Roman" panose="02020603050405020304" pitchFamily="18" charset="0"/>
              </a:rPr>
              <a:t>interactive Power BI dashboard</a:t>
            </a:r>
            <a:r>
              <a:rPr lang="en-US" sz="1100" dirty="0">
                <a:latin typeface="Times New Roman" panose="02020603050405020304" pitchFamily="18" charset="0"/>
                <a:cs typeface="Times New Roman" panose="02020603050405020304" pitchFamily="18" charset="0"/>
              </a:rPr>
              <a:t> displaying key insights from student feedback. It includes </a:t>
            </a:r>
            <a:r>
              <a:rPr lang="en-US" sz="1100" b="1" dirty="0">
                <a:latin typeface="Times New Roman" panose="02020603050405020304" pitchFamily="18" charset="0"/>
                <a:cs typeface="Times New Roman" panose="02020603050405020304" pitchFamily="18" charset="0"/>
              </a:rPr>
              <a:t>sentiment analysis charts, faculty comparison graphs, trend analysis, and keyword-based insights</a:t>
            </a:r>
            <a:r>
              <a:rPr lang="en-US" sz="1100" dirty="0">
                <a:latin typeface="Times New Roman" panose="02020603050405020304" pitchFamily="18" charset="0"/>
                <a:cs typeface="Times New Roman" panose="02020603050405020304" pitchFamily="18" charset="0"/>
              </a:rPr>
              <a:t>. The dashboard also provides </a:t>
            </a:r>
            <a:r>
              <a:rPr lang="en-US" sz="1100" b="1" dirty="0">
                <a:latin typeface="Times New Roman" panose="02020603050405020304" pitchFamily="18" charset="0"/>
                <a:cs typeface="Times New Roman" panose="02020603050405020304" pitchFamily="18" charset="0"/>
              </a:rPr>
              <a:t>actionable recommendations and summary reports</a:t>
            </a:r>
            <a:r>
              <a:rPr lang="en-US" sz="1100" dirty="0">
                <a:latin typeface="Times New Roman" panose="02020603050405020304" pitchFamily="18" charset="0"/>
                <a:cs typeface="Times New Roman" panose="02020603050405020304" pitchFamily="18" charset="0"/>
              </a:rPr>
              <a:t> for faculty and academic leaders, enabling data-driven decisions for teaching improvement and institutional growth.</a:t>
            </a:r>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20623" y="607298"/>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Live Demo of Project</a:t>
            </a:r>
            <a:endParaRPr lang="en-US" sz="2000" dirty="0">
              <a:latin typeface="Lato" panose="020F0502020204030203" pitchFamily="34" charset="0"/>
              <a:cs typeface="Arial" panose="020B0604020202020204" pitchFamily="34" charset="0"/>
            </a:endParaRPr>
          </a:p>
        </p:txBody>
      </p:sp>
      <p:sp>
        <p:nvSpPr>
          <p:cNvPr id="6" name="Text 4"/>
          <p:cNvSpPr/>
          <p:nvPr/>
        </p:nvSpPr>
        <p:spPr>
          <a:xfrm>
            <a:off x="125487" y="1105839"/>
            <a:ext cx="8412480" cy="320040"/>
          </a:xfrm>
          <a:prstGeom prst="rect">
            <a:avLst/>
          </a:prstGeom>
          <a:noFill/>
          <a:ln/>
        </p:spPr>
        <p:txBody>
          <a:bodyPr wrap="square" rtlCol="0" anchor="ctr"/>
          <a:lstStyle/>
          <a:p>
            <a:pPr marL="0" indent="0">
              <a:buNone/>
            </a:pPr>
            <a:r>
              <a:rPr lang="en-US" dirty="0">
                <a:latin typeface="Lato" panose="020F0502020204030203" pitchFamily="34" charset="0"/>
                <a:ea typeface="Calibri" pitchFamily="34" charset="-122"/>
                <a:cs typeface="Arial" panose="020B0604020202020204" pitchFamily="34" charset="0"/>
              </a:rPr>
              <a:t>Here's the list of some demo screenshots / features of the project:</a:t>
            </a:r>
            <a:endParaRPr lang="en-US" dirty="0">
              <a:latin typeface="Lato" panose="020F0502020204030203" pitchFamily="34" charset="0"/>
              <a:cs typeface="Arial" panose="020B0604020202020204" pitchFamily="34" charset="0"/>
            </a:endParaRPr>
          </a:p>
        </p:txBody>
      </p:sp>
      <p:sp>
        <p:nvSpPr>
          <p:cNvPr id="7" name="Shape 5"/>
          <p:cNvSpPr/>
          <p:nvPr/>
        </p:nvSpPr>
        <p:spPr>
          <a:xfrm>
            <a:off x="978408" y="1648237"/>
            <a:ext cx="1371600" cy="1371600"/>
          </a:xfrm>
          <a:prstGeom prst="ellipse">
            <a:avLst/>
          </a:prstGeom>
          <a:solidFill>
            <a:srgbClr val="1565C0"/>
          </a:solidFill>
          <a:ln w="38100">
            <a:solidFill>
              <a:srgbClr val="FFFFFF"/>
            </a:solidFill>
            <a:prstDash val="solid"/>
          </a:ln>
        </p:spPr>
        <p:txBody>
          <a:bodyPr/>
          <a:lstStyle/>
          <a:p>
            <a:endParaRPr lang="en-IN" dirty="0">
              <a:latin typeface="Lato" panose="020F0502020204030203" pitchFamily="34" charset="0"/>
            </a:endParaRPr>
          </a:p>
        </p:txBody>
      </p:sp>
      <p:sp>
        <p:nvSpPr>
          <p:cNvPr id="9" name="Shape 7"/>
          <p:cNvSpPr/>
          <p:nvPr/>
        </p:nvSpPr>
        <p:spPr>
          <a:xfrm>
            <a:off x="158964" y="2183774"/>
            <a:ext cx="2788920" cy="2651760"/>
          </a:xfrm>
          <a:prstGeom prst="rect">
            <a:avLst/>
          </a:prstGeom>
          <a:solidFill>
            <a:schemeClr val="accent1">
              <a:lumMod val="20000"/>
              <a:lumOff val="80000"/>
            </a:schemeClr>
          </a:solidFill>
          <a:ln/>
          <a:effectLst>
            <a:outerShdw blurRad="101600" dist="38100" dir="8100000" algn="bl" rotWithShape="0">
              <a:srgbClr val="000000">
                <a:alpha val="15000"/>
              </a:srgbClr>
            </a:outerShdw>
          </a:effectLst>
        </p:spPr>
        <p:txBody>
          <a:bodyPr/>
          <a:lstStyle/>
          <a:p>
            <a:pPr algn="just"/>
            <a:endParaRPr lang="en-US" sz="800" b="1" dirty="0">
              <a:latin typeface="Times New Roman" panose="02020603050405020304" pitchFamily="18" charset="0"/>
              <a:cs typeface="Times New Roman" panose="02020603050405020304" pitchFamily="18" charset="0"/>
            </a:endParaRPr>
          </a:p>
          <a:p>
            <a:pPr algn="just"/>
            <a:endParaRPr lang="en-US" sz="800" b="1" dirty="0">
              <a:latin typeface="Times New Roman" panose="02020603050405020304" pitchFamily="18" charset="0"/>
              <a:cs typeface="Times New Roman" panose="02020603050405020304" pitchFamily="18" charset="0"/>
            </a:endParaRPr>
          </a:p>
          <a:p>
            <a:pPr algn="ctr"/>
            <a:r>
              <a:rPr lang="en-US" sz="1400" b="1" dirty="0">
                <a:latin typeface="Times New Roman" panose="02020603050405020304" pitchFamily="18" charset="0"/>
                <a:cs typeface="Times New Roman" panose="02020603050405020304" pitchFamily="18" charset="0"/>
              </a:rPr>
              <a:t>Demo 1</a:t>
            </a:r>
          </a:p>
          <a:p>
            <a:pPr algn="just"/>
            <a:r>
              <a:rPr lang="en-US" sz="800" b="1" dirty="0">
                <a:latin typeface="Times New Roman" panose="02020603050405020304" pitchFamily="18" charset="0"/>
                <a:cs typeface="Times New Roman" panose="02020603050405020304" pitchFamily="18" charset="0"/>
              </a:rPr>
              <a:t>Student Feedback Sentiment Analysis</a:t>
            </a:r>
          </a:p>
          <a:p>
            <a:pPr algn="just"/>
            <a:r>
              <a:rPr lang="en-US" sz="800" dirty="0">
                <a:latin typeface="Times New Roman" panose="02020603050405020304" pitchFamily="18" charset="0"/>
                <a:cs typeface="Times New Roman" panose="02020603050405020304" pitchFamily="18" charset="0"/>
              </a:rPr>
              <a:t>This demo showcases </a:t>
            </a:r>
            <a:r>
              <a:rPr lang="en-US" sz="800" b="1" dirty="0">
                <a:latin typeface="Times New Roman" panose="02020603050405020304" pitchFamily="18" charset="0"/>
                <a:cs typeface="Times New Roman" panose="02020603050405020304" pitchFamily="18" charset="0"/>
              </a:rPr>
              <a:t>student feedback sentiment analysis</a:t>
            </a:r>
            <a:r>
              <a:rPr lang="en-US" sz="800" dirty="0">
                <a:latin typeface="Times New Roman" panose="02020603050405020304" pitchFamily="18" charset="0"/>
                <a:cs typeface="Times New Roman" panose="02020603050405020304" pitchFamily="18" charset="0"/>
              </a:rPr>
              <a:t> using AI and Power BI. The uploaded feedback dataset is analyzed to classify comments into </a:t>
            </a:r>
            <a:r>
              <a:rPr lang="en-US" sz="800" b="1" dirty="0">
                <a:latin typeface="Times New Roman" panose="02020603050405020304" pitchFamily="18" charset="0"/>
                <a:cs typeface="Times New Roman" panose="02020603050405020304" pitchFamily="18" charset="0"/>
              </a:rPr>
              <a:t>positive, negative, and neutral sentiments</a:t>
            </a:r>
            <a:r>
              <a:rPr lang="en-US" sz="800" dirty="0">
                <a:latin typeface="Times New Roman" panose="02020603050405020304" pitchFamily="18" charset="0"/>
                <a:cs typeface="Times New Roman" panose="02020603050405020304" pitchFamily="18" charset="0"/>
              </a:rPr>
              <a:t>. The dashboard displays </a:t>
            </a:r>
            <a:r>
              <a:rPr lang="en-US" sz="800" b="1" dirty="0">
                <a:latin typeface="Times New Roman" panose="02020603050405020304" pitchFamily="18" charset="0"/>
                <a:cs typeface="Times New Roman" panose="02020603050405020304" pitchFamily="18" charset="0"/>
              </a:rPr>
              <a:t>sentiment distribution charts, overall satisfaction score, and key feedback themes</a:t>
            </a:r>
            <a:r>
              <a:rPr lang="en-US" sz="900" dirty="0">
                <a:latin typeface="Times New Roman" panose="02020603050405020304" pitchFamily="18" charset="0"/>
                <a:cs typeface="Times New Roman" panose="02020603050405020304" pitchFamily="18" charset="0"/>
              </a:rPr>
              <a:t>.</a:t>
            </a:r>
          </a:p>
          <a:p>
            <a:pPr algn="just"/>
            <a:endParaRPr lang="en-US" sz="900" dirty="0">
              <a:latin typeface="Times New Roman" panose="02020603050405020304" pitchFamily="18" charset="0"/>
              <a:cs typeface="Times New Roman" panose="02020603050405020304" pitchFamily="18" charset="0"/>
            </a:endParaRPr>
          </a:p>
        </p:txBody>
      </p:sp>
      <p:sp>
        <p:nvSpPr>
          <p:cNvPr id="10" name="Text 8"/>
          <p:cNvSpPr/>
          <p:nvPr/>
        </p:nvSpPr>
        <p:spPr>
          <a:xfrm>
            <a:off x="274320" y="2413802"/>
            <a:ext cx="2788920" cy="411480"/>
          </a:xfrm>
          <a:prstGeom prst="rect">
            <a:avLst/>
          </a:prstGeom>
          <a:noFill/>
          <a:ln/>
        </p:spPr>
        <p:txBody>
          <a:bodyPr wrap="square" rtlCol="0" anchor="ctr"/>
          <a:lstStyle/>
          <a:p>
            <a:pPr marL="0" indent="0" algn="ctr">
              <a:buNone/>
            </a:pPr>
            <a:endParaRPr lang="en-US" sz="1600" dirty="0">
              <a:latin typeface="Lato" panose="020F0502020204030203" pitchFamily="34" charset="0"/>
              <a:cs typeface="Arial" panose="020B0604020202020204" pitchFamily="34" charset="0"/>
            </a:endParaRPr>
          </a:p>
        </p:txBody>
      </p:sp>
      <p:sp>
        <p:nvSpPr>
          <p:cNvPr id="11" name="Text 9"/>
          <p:cNvSpPr/>
          <p:nvPr/>
        </p:nvSpPr>
        <p:spPr>
          <a:xfrm>
            <a:off x="411480" y="2919838"/>
            <a:ext cx="2514600" cy="1371600"/>
          </a:xfrm>
          <a:prstGeom prst="rect">
            <a:avLst/>
          </a:prstGeom>
          <a:noFill/>
          <a:ln/>
        </p:spPr>
        <p:txBody>
          <a:bodyPr wrap="square" rtlCol="0" anchor="ctr"/>
          <a:lstStyle/>
          <a:p>
            <a:pPr marL="0" indent="0" algn="ctr">
              <a:buNone/>
            </a:pPr>
            <a:endParaRPr lang="en-US" sz="1600" dirty="0">
              <a:latin typeface="Lato" panose="020F0502020204030203" pitchFamily="34" charset="0"/>
              <a:cs typeface="Arial" panose="020B0604020202020204" pitchFamily="34" charset="0"/>
            </a:endParaRPr>
          </a:p>
        </p:txBody>
      </p:sp>
      <p:sp>
        <p:nvSpPr>
          <p:cNvPr id="12" name="Shape 10"/>
          <p:cNvSpPr/>
          <p:nvPr/>
        </p:nvSpPr>
        <p:spPr>
          <a:xfrm>
            <a:off x="3922776" y="1648237"/>
            <a:ext cx="1371600" cy="1371600"/>
          </a:xfrm>
          <a:prstGeom prst="ellipse">
            <a:avLst/>
          </a:prstGeom>
          <a:solidFill>
            <a:srgbClr val="FFC000"/>
          </a:solidFill>
          <a:ln w="38100">
            <a:solidFill>
              <a:srgbClr val="FFFFFF"/>
            </a:solidFill>
            <a:prstDash val="solid"/>
          </a:ln>
        </p:spPr>
        <p:txBody>
          <a:bodyPr/>
          <a:lstStyle/>
          <a:p>
            <a:endParaRPr lang="en-IN">
              <a:latin typeface="Lato" panose="020F0502020204030203" pitchFamily="34" charset="0"/>
            </a:endParaRPr>
          </a:p>
        </p:txBody>
      </p:sp>
      <p:sp>
        <p:nvSpPr>
          <p:cNvPr id="14" name="Shape 12"/>
          <p:cNvSpPr/>
          <p:nvPr/>
        </p:nvSpPr>
        <p:spPr>
          <a:xfrm>
            <a:off x="3149054" y="2258326"/>
            <a:ext cx="2788920" cy="2651760"/>
          </a:xfrm>
          <a:prstGeom prst="rect">
            <a:avLst/>
          </a:prstGeom>
          <a:solidFill>
            <a:srgbClr val="FDF3ED"/>
          </a:solidFill>
          <a:ln/>
          <a:effectLst>
            <a:outerShdw blurRad="101600" dist="38100" dir="8100000" algn="bl" rotWithShape="0">
              <a:srgbClr val="000000">
                <a:alpha val="15000"/>
              </a:srgbClr>
            </a:outerShdw>
          </a:effectLst>
        </p:spPr>
        <p:txBody>
          <a:bodyPr/>
          <a:lstStyle/>
          <a:p>
            <a:pPr algn="just"/>
            <a:r>
              <a:rPr lang="en-US" sz="800" b="1" dirty="0">
                <a:latin typeface="Lato" panose="020F0502020204030203" pitchFamily="34" charset="0"/>
                <a:ea typeface="Calibri" pitchFamily="34" charset="-122"/>
                <a:cs typeface="Arial" panose="020B0604020202020204" pitchFamily="34" charset="0"/>
              </a:rPr>
              <a:t>                                            Demo 2</a:t>
            </a:r>
            <a:endParaRPr lang="en-US" sz="800" dirty="0">
              <a:latin typeface="Lato" panose="020F0502020204030203" pitchFamily="34" charset="0"/>
              <a:cs typeface="Arial" panose="020B0604020202020204" pitchFamily="34" charset="0"/>
            </a:endParaRPr>
          </a:p>
          <a:p>
            <a:pPr algn="just"/>
            <a:endParaRPr lang="en-US" sz="800" b="1" dirty="0">
              <a:latin typeface="Times New Roman" panose="02020603050405020304" pitchFamily="18" charset="0"/>
              <a:cs typeface="Times New Roman" panose="02020603050405020304" pitchFamily="18" charset="0"/>
            </a:endParaRPr>
          </a:p>
          <a:p>
            <a:pPr algn="just"/>
            <a:r>
              <a:rPr lang="en-US" sz="800" b="1" dirty="0">
                <a:latin typeface="Times New Roman" panose="02020603050405020304" pitchFamily="18" charset="0"/>
                <a:cs typeface="Times New Roman" panose="02020603050405020304" pitchFamily="18" charset="0"/>
              </a:rPr>
              <a:t>Faculty Performance Comparison Dashboard</a:t>
            </a:r>
          </a:p>
          <a:p>
            <a:pPr algn="just"/>
            <a:r>
              <a:rPr lang="en-US" sz="800" dirty="0">
                <a:latin typeface="Times New Roman" panose="02020603050405020304" pitchFamily="18" charset="0"/>
                <a:cs typeface="Times New Roman" panose="02020603050405020304" pitchFamily="18" charset="0"/>
              </a:rPr>
              <a:t>This demo presents a </a:t>
            </a:r>
            <a:r>
              <a:rPr lang="en-US" sz="800" b="1" dirty="0">
                <a:latin typeface="Times New Roman" panose="02020603050405020304" pitchFamily="18" charset="0"/>
                <a:cs typeface="Times New Roman" panose="02020603050405020304" pitchFamily="18" charset="0"/>
              </a:rPr>
              <a:t>faculty performance comparison dashboard</a:t>
            </a:r>
            <a:r>
              <a:rPr lang="en-US" sz="800" dirty="0">
                <a:latin typeface="Times New Roman" panose="02020603050405020304" pitchFamily="18" charset="0"/>
                <a:cs typeface="Times New Roman" panose="02020603050405020304" pitchFamily="18" charset="0"/>
              </a:rPr>
              <a:t> created using Power BI. The system analyzes student feedback across multiple faculty members and compares </a:t>
            </a:r>
            <a:r>
              <a:rPr lang="en-US" sz="800" b="1" dirty="0">
                <a:latin typeface="Times New Roman" panose="02020603050405020304" pitchFamily="18" charset="0"/>
                <a:cs typeface="Times New Roman" panose="02020603050405020304" pitchFamily="18" charset="0"/>
              </a:rPr>
              <a:t>ratings, sentiment scores, and key feedback themes</a:t>
            </a:r>
            <a:r>
              <a:rPr lang="en-US" sz="800" dirty="0">
                <a:latin typeface="Times New Roman" panose="02020603050405020304" pitchFamily="18" charset="0"/>
                <a:cs typeface="Times New Roman" panose="02020603050405020304" pitchFamily="18" charset="0"/>
              </a:rPr>
              <a:t>.</a:t>
            </a:r>
          </a:p>
          <a:p>
            <a:pPr algn="just"/>
            <a:endParaRPr lang="en-US" sz="800" dirty="0">
              <a:latin typeface="Times New Roman" panose="02020603050405020304" pitchFamily="18" charset="0"/>
              <a:cs typeface="Times New Roman" panose="02020603050405020304" pitchFamily="18" charset="0"/>
            </a:endParaRPr>
          </a:p>
        </p:txBody>
      </p:sp>
      <p:sp>
        <p:nvSpPr>
          <p:cNvPr id="15" name="Text 13"/>
          <p:cNvSpPr/>
          <p:nvPr/>
        </p:nvSpPr>
        <p:spPr>
          <a:xfrm>
            <a:off x="3218688" y="2413802"/>
            <a:ext cx="2788920" cy="411480"/>
          </a:xfrm>
          <a:prstGeom prst="rect">
            <a:avLst/>
          </a:prstGeom>
          <a:noFill/>
          <a:ln/>
        </p:spPr>
        <p:txBody>
          <a:bodyPr wrap="square" rtlCol="0" anchor="ctr"/>
          <a:lstStyle/>
          <a:p>
            <a:pPr marL="0" indent="0" algn="ctr">
              <a:buNone/>
            </a:pPr>
            <a:endParaRPr lang="en-US" sz="1600" dirty="0">
              <a:latin typeface="Lato" panose="020F0502020204030203" pitchFamily="34" charset="0"/>
              <a:cs typeface="Arial" panose="020B0604020202020204" pitchFamily="34" charset="0"/>
            </a:endParaRPr>
          </a:p>
        </p:txBody>
      </p:sp>
      <p:sp>
        <p:nvSpPr>
          <p:cNvPr id="16" name="Text 14"/>
          <p:cNvSpPr/>
          <p:nvPr/>
        </p:nvSpPr>
        <p:spPr>
          <a:xfrm>
            <a:off x="3355847" y="2750235"/>
            <a:ext cx="2721395" cy="2102004"/>
          </a:xfrm>
          <a:prstGeom prst="rect">
            <a:avLst/>
          </a:prstGeom>
          <a:noFill/>
          <a:ln/>
        </p:spPr>
        <p:txBody>
          <a:bodyPr wrap="square" rtlCol="0" anchor="ctr"/>
          <a:lstStyle/>
          <a:p>
            <a:pPr marL="0" indent="0" algn="ctr">
              <a:buNone/>
            </a:pPr>
            <a:endParaRPr lang="en-US" sz="800" dirty="0">
              <a:latin typeface="Lato" panose="020F0502020204030203" pitchFamily="34" charset="0"/>
              <a:ea typeface="Calibri" pitchFamily="34" charset="-122"/>
              <a:cs typeface="Arial" panose="020B0604020202020204" pitchFamily="34" charset="0"/>
            </a:endParaRPr>
          </a:p>
        </p:txBody>
      </p:sp>
      <p:sp>
        <p:nvSpPr>
          <p:cNvPr id="17" name="Shape 15"/>
          <p:cNvSpPr/>
          <p:nvPr/>
        </p:nvSpPr>
        <p:spPr>
          <a:xfrm>
            <a:off x="6867144" y="1648237"/>
            <a:ext cx="1371600" cy="1371600"/>
          </a:xfrm>
          <a:prstGeom prst="ellipse">
            <a:avLst/>
          </a:prstGeom>
          <a:solidFill>
            <a:srgbClr val="1565C0"/>
          </a:solidFill>
          <a:ln w="38100">
            <a:solidFill>
              <a:srgbClr val="FFFFFF"/>
            </a:solidFill>
            <a:prstDash val="solid"/>
          </a:ln>
        </p:spPr>
        <p:txBody>
          <a:bodyPr/>
          <a:lstStyle/>
          <a:p>
            <a:endParaRPr lang="en-IN">
              <a:latin typeface="Lato" panose="020F0502020204030203" pitchFamily="34" charset="0"/>
            </a:endParaRPr>
          </a:p>
        </p:txBody>
      </p:sp>
      <p:sp>
        <p:nvSpPr>
          <p:cNvPr id="18" name="Text 16"/>
          <p:cNvSpPr/>
          <p:nvPr/>
        </p:nvSpPr>
        <p:spPr>
          <a:xfrm>
            <a:off x="6867144" y="1648237"/>
            <a:ext cx="1371600" cy="1371600"/>
          </a:xfrm>
          <a:prstGeom prst="rect">
            <a:avLst/>
          </a:prstGeom>
          <a:noFill/>
          <a:ln/>
        </p:spPr>
        <p:txBody>
          <a:bodyPr wrap="square" rtlCol="0" anchor="ctr"/>
          <a:lstStyle/>
          <a:p>
            <a:pPr marL="0" indent="0" algn="ctr">
              <a:buNone/>
            </a:pPr>
            <a:endParaRPr lang="en-US" sz="3600" dirty="0">
              <a:latin typeface="Lato" panose="020F0502020204030203" pitchFamily="34" charset="0"/>
            </a:endParaRPr>
          </a:p>
        </p:txBody>
      </p:sp>
      <p:sp>
        <p:nvSpPr>
          <p:cNvPr id="19" name="Shape 17"/>
          <p:cNvSpPr/>
          <p:nvPr/>
        </p:nvSpPr>
        <p:spPr>
          <a:xfrm>
            <a:off x="6163056" y="2183774"/>
            <a:ext cx="2788920" cy="2651760"/>
          </a:xfrm>
          <a:prstGeom prst="rect">
            <a:avLst/>
          </a:prstGeom>
          <a:solidFill>
            <a:schemeClr val="accent1">
              <a:lumMod val="20000"/>
              <a:lumOff val="80000"/>
            </a:schemeClr>
          </a:solidFill>
          <a:ln/>
          <a:effectLst>
            <a:outerShdw blurRad="101600" dist="38100" dir="8100000" algn="bl" rotWithShape="0">
              <a:srgbClr val="000000">
                <a:alpha val="15000"/>
              </a:srgbClr>
            </a:outerShdw>
          </a:effectLst>
        </p:spPr>
        <p:txBody>
          <a:bodyPr/>
          <a:lstStyle/>
          <a:p>
            <a:endParaRPr lang="en-IN" sz="800" b="1" dirty="0">
              <a:latin typeface="Times New Roman" panose="02020603050405020304" pitchFamily="18" charset="0"/>
              <a:cs typeface="Times New Roman" panose="02020603050405020304" pitchFamily="18" charset="0"/>
            </a:endParaRPr>
          </a:p>
          <a:p>
            <a:endParaRPr lang="en-IN" sz="800" b="1" dirty="0">
              <a:latin typeface="Times New Roman" panose="02020603050405020304" pitchFamily="18" charset="0"/>
              <a:cs typeface="Times New Roman" panose="02020603050405020304" pitchFamily="18" charset="0"/>
            </a:endParaRPr>
          </a:p>
          <a:p>
            <a:r>
              <a:rPr lang="en-IN" sz="800" b="1" dirty="0">
                <a:latin typeface="Times New Roman" panose="02020603050405020304" pitchFamily="18" charset="0"/>
                <a:cs typeface="Times New Roman" panose="02020603050405020304" pitchFamily="18" charset="0"/>
              </a:rPr>
              <a:t>AI Chatbot using Copilot</a:t>
            </a:r>
            <a:endParaRPr lang="en-IN" sz="800" dirty="0">
              <a:latin typeface="Times New Roman" panose="02020603050405020304" pitchFamily="18" charset="0"/>
              <a:cs typeface="Times New Roman" panose="02020603050405020304" pitchFamily="18" charset="0"/>
            </a:endParaRPr>
          </a:p>
          <a:p>
            <a:r>
              <a:rPr lang="en-IN" sz="800" dirty="0">
                <a:latin typeface="Times New Roman" panose="02020603050405020304" pitchFamily="18" charset="0"/>
                <a:cs typeface="Times New Roman" panose="02020603050405020304" pitchFamily="18" charset="0"/>
              </a:rPr>
              <a:t>This demo shows an AI chatbot built using </a:t>
            </a:r>
            <a:r>
              <a:rPr lang="en-IN" sz="800" b="1" dirty="0">
                <a:latin typeface="Times New Roman" panose="02020603050405020304" pitchFamily="18" charset="0"/>
                <a:cs typeface="Times New Roman" panose="02020603050405020304" pitchFamily="18" charset="0"/>
              </a:rPr>
              <a:t>Microsoft Copilot Studio</a:t>
            </a:r>
            <a:r>
              <a:rPr lang="en-IN" sz="800" dirty="0">
                <a:latin typeface="Times New Roman" panose="02020603050405020304" pitchFamily="18" charset="0"/>
                <a:cs typeface="Times New Roman" panose="02020603050405020304" pitchFamily="18" charset="0"/>
              </a:rPr>
              <a:t> to </a:t>
            </a:r>
            <a:r>
              <a:rPr lang="en-IN" sz="800" dirty="0" err="1">
                <a:latin typeface="Times New Roman" panose="02020603050405020304" pitchFamily="18" charset="0"/>
                <a:cs typeface="Times New Roman" panose="02020603050405020304" pitchFamily="18" charset="0"/>
              </a:rPr>
              <a:t>analyze</a:t>
            </a:r>
            <a:r>
              <a:rPr lang="en-IN" sz="800" dirty="0">
                <a:latin typeface="Times New Roman" panose="02020603050405020304" pitchFamily="18" charset="0"/>
                <a:cs typeface="Times New Roman" panose="02020603050405020304" pitchFamily="18" charset="0"/>
              </a:rPr>
              <a:t> student feedback. Users can ask questions and get instant insights on sentiment, faculty performance, and improvement areas.</a:t>
            </a:r>
          </a:p>
          <a:p>
            <a:r>
              <a:rPr lang="en-IN" sz="800" dirty="0">
                <a:latin typeface="Times New Roman" panose="02020603050405020304" pitchFamily="18" charset="0"/>
                <a:cs typeface="Times New Roman" panose="02020603050405020304" pitchFamily="18" charset="0"/>
              </a:rPr>
              <a:t>It demonstrates how AI automates analysis and supports </a:t>
            </a:r>
            <a:r>
              <a:rPr lang="en-IN" sz="800" b="1" dirty="0">
                <a:latin typeface="Times New Roman" panose="02020603050405020304" pitchFamily="18" charset="0"/>
                <a:cs typeface="Times New Roman" panose="02020603050405020304" pitchFamily="18" charset="0"/>
              </a:rPr>
              <a:t>quick, data-driven decisions</a:t>
            </a:r>
            <a:r>
              <a:rPr lang="en-IN" sz="800" dirty="0">
                <a:latin typeface="Times New Roman" panose="02020603050405020304" pitchFamily="18" charset="0"/>
                <a:cs typeface="Times New Roman" panose="02020603050405020304" pitchFamily="18" charset="0"/>
              </a:rPr>
              <a:t>.</a:t>
            </a:r>
          </a:p>
          <a:p>
            <a:endParaRPr lang="en-IN" sz="800" dirty="0">
              <a:latin typeface="Times New Roman" panose="02020603050405020304" pitchFamily="18" charset="0"/>
              <a:cs typeface="Times New Roman" panose="02020603050405020304" pitchFamily="18" charset="0"/>
            </a:endParaRPr>
          </a:p>
          <a:p>
            <a:endParaRPr lang="en-IN" dirty="0">
              <a:latin typeface="Lato" panose="020F0502020204030203" pitchFamily="34" charset="0"/>
            </a:endParaRPr>
          </a:p>
        </p:txBody>
      </p:sp>
      <p:sp>
        <p:nvSpPr>
          <p:cNvPr id="20" name="Text 18"/>
          <p:cNvSpPr/>
          <p:nvPr/>
        </p:nvSpPr>
        <p:spPr>
          <a:xfrm>
            <a:off x="6163056" y="2183774"/>
            <a:ext cx="2788920" cy="230028"/>
          </a:xfrm>
          <a:prstGeom prst="rect">
            <a:avLst/>
          </a:prstGeom>
          <a:noFill/>
          <a:ln/>
        </p:spPr>
        <p:txBody>
          <a:bodyPr wrap="square" rtlCol="0" anchor="ctr"/>
          <a:lstStyle/>
          <a:p>
            <a:pPr marL="0" indent="0" algn="ctr">
              <a:buNone/>
            </a:pPr>
            <a:r>
              <a:rPr lang="en-US" sz="1600" b="1" dirty="0">
                <a:latin typeface="Lato" panose="020F0502020204030203" pitchFamily="34" charset="0"/>
                <a:ea typeface="Calibri" pitchFamily="34" charset="-122"/>
                <a:cs typeface="Arial" panose="020B0604020202020204" pitchFamily="34" charset="0"/>
              </a:rPr>
              <a:t>Demo 3</a:t>
            </a:r>
            <a:endParaRPr lang="en-US" sz="1600" dirty="0">
              <a:latin typeface="Lato" panose="020F0502020204030203" pitchFamily="34" charset="0"/>
              <a:cs typeface="Arial" panose="020B0604020202020204" pitchFamily="34" charset="0"/>
            </a:endParaRPr>
          </a:p>
        </p:txBody>
      </p:sp>
      <p:sp>
        <p:nvSpPr>
          <p:cNvPr id="21" name="Text 19"/>
          <p:cNvSpPr/>
          <p:nvPr/>
        </p:nvSpPr>
        <p:spPr>
          <a:xfrm>
            <a:off x="6300216" y="2750234"/>
            <a:ext cx="2514600" cy="2085300"/>
          </a:xfrm>
          <a:prstGeom prst="rect">
            <a:avLst/>
          </a:prstGeom>
          <a:noFill/>
          <a:ln/>
        </p:spPr>
        <p:txBody>
          <a:bodyPr wrap="square" rtlCol="0" anchor="ctr"/>
          <a:lstStyle/>
          <a:p>
            <a:pPr algn="just"/>
            <a:endParaRPr lang="en-US" sz="8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B7557FCE-3C7E-1CF1-90D4-3311756BEF4C}"/>
              </a:ext>
            </a:extLst>
          </p:cNvPr>
          <p:cNvPicPr>
            <a:picLocks noChangeAspect="1"/>
          </p:cNvPicPr>
          <p:nvPr/>
        </p:nvPicPr>
        <p:blipFill>
          <a:blip r:embed="rId4"/>
          <a:stretch>
            <a:fillRect/>
          </a:stretch>
        </p:blipFill>
        <p:spPr>
          <a:xfrm>
            <a:off x="274320" y="3584206"/>
            <a:ext cx="2514601" cy="1414464"/>
          </a:xfrm>
          <a:prstGeom prst="rect">
            <a:avLst/>
          </a:prstGeom>
        </p:spPr>
      </p:pic>
      <p:pic>
        <p:nvPicPr>
          <p:cNvPr id="8" name="Picture 7">
            <a:extLst>
              <a:ext uri="{FF2B5EF4-FFF2-40B4-BE49-F238E27FC236}">
                <a16:creationId xmlns:a16="http://schemas.microsoft.com/office/drawing/2014/main" id="{1BF260EC-E5E0-F10D-0C54-0C31876DBC8F}"/>
              </a:ext>
            </a:extLst>
          </p:cNvPr>
          <p:cNvPicPr>
            <a:picLocks noChangeAspect="1"/>
          </p:cNvPicPr>
          <p:nvPr/>
        </p:nvPicPr>
        <p:blipFill>
          <a:blip r:embed="rId5"/>
          <a:stretch>
            <a:fillRect/>
          </a:stretch>
        </p:blipFill>
        <p:spPr>
          <a:xfrm>
            <a:off x="3176737" y="3340415"/>
            <a:ext cx="2790526" cy="1569671"/>
          </a:xfrm>
          <a:prstGeom prst="rect">
            <a:avLst/>
          </a:prstGeom>
        </p:spPr>
      </p:pic>
      <p:pic>
        <p:nvPicPr>
          <p:cNvPr id="22" name="Picture 21">
            <a:extLst>
              <a:ext uri="{FF2B5EF4-FFF2-40B4-BE49-F238E27FC236}">
                <a16:creationId xmlns:a16="http://schemas.microsoft.com/office/drawing/2014/main" id="{C4C831B0-46D8-782A-A74A-495BF7E168E4}"/>
              </a:ext>
            </a:extLst>
          </p:cNvPr>
          <p:cNvPicPr>
            <a:picLocks noChangeAspect="1"/>
          </p:cNvPicPr>
          <p:nvPr/>
        </p:nvPicPr>
        <p:blipFill>
          <a:blip r:embed="rId6"/>
          <a:stretch>
            <a:fillRect/>
          </a:stretch>
        </p:blipFill>
        <p:spPr>
          <a:xfrm>
            <a:off x="6298106" y="3356269"/>
            <a:ext cx="2571573" cy="1440105"/>
          </a:xfrm>
          <a:prstGeom prst="rect">
            <a:avLst/>
          </a:prstGeom>
        </p:spPr>
      </p:pic>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320040" y="621792"/>
            <a:ext cx="8229600" cy="438912"/>
          </a:xfrm>
          <a:prstGeom prst="rect">
            <a:avLst/>
          </a:prstGeom>
          <a:noFill/>
          <a:ln/>
        </p:spPr>
        <p:txBody>
          <a:bodyPr wrap="square" rtlCol="0" anchor="ctr"/>
          <a:lstStyle/>
          <a:p>
            <a:pPr marL="0" indent="0">
              <a:buNone/>
            </a:pPr>
            <a:r>
              <a:rPr lang="en-US" sz="2200" b="1" dirty="0">
                <a:solidFill>
                  <a:srgbClr val="1B3A8A"/>
                </a:solidFill>
                <a:latin typeface="Calibri" pitchFamily="34" charset="0"/>
                <a:ea typeface="Calibri" pitchFamily="34" charset="-122"/>
                <a:cs typeface="Calibri" pitchFamily="34" charset="-120"/>
              </a:rPr>
              <a:t>Video of Project Demo</a:t>
            </a:r>
            <a:endParaRPr lang="en-US" sz="2200" dirty="0"/>
          </a:p>
        </p:txBody>
      </p:sp>
      <p:sp>
        <p:nvSpPr>
          <p:cNvPr id="6" name="Shape 4"/>
          <p:cNvSpPr/>
          <p:nvPr/>
        </p:nvSpPr>
        <p:spPr>
          <a:xfrm>
            <a:off x="365760" y="685800"/>
            <a:ext cx="8412480" cy="3977640"/>
          </a:xfrm>
          <a:prstGeom prst="rect">
            <a:avLst/>
          </a:prstGeom>
          <a:solidFill>
            <a:srgbClr val="ECEFF1"/>
          </a:solidFill>
          <a:ln w="25400">
            <a:solidFill>
              <a:srgbClr val="1B3A8A"/>
            </a:solidFill>
            <a:prstDash val="solid"/>
          </a:ln>
        </p:spPr>
        <p:txBody>
          <a:bodyPr/>
          <a:lstStyle/>
          <a:p>
            <a:endParaRPr lang="en-IN"/>
          </a:p>
        </p:txBody>
      </p:sp>
      <p:sp>
        <p:nvSpPr>
          <p:cNvPr id="7" name="Shape 5"/>
          <p:cNvSpPr/>
          <p:nvPr/>
        </p:nvSpPr>
        <p:spPr>
          <a:xfrm>
            <a:off x="365760" y="685800"/>
            <a:ext cx="8412480" cy="384048"/>
          </a:xfrm>
          <a:prstGeom prst="rect">
            <a:avLst/>
          </a:prstGeom>
          <a:solidFill>
            <a:srgbClr val="E0E0E0"/>
          </a:solidFill>
          <a:ln/>
        </p:spPr>
        <p:txBody>
          <a:bodyPr/>
          <a:lstStyle/>
          <a:p>
            <a:endParaRPr lang="en-IN"/>
          </a:p>
        </p:txBody>
      </p:sp>
      <p:sp>
        <p:nvSpPr>
          <p:cNvPr id="8" name="Shape 6"/>
          <p:cNvSpPr/>
          <p:nvPr/>
        </p:nvSpPr>
        <p:spPr>
          <a:xfrm>
            <a:off x="502920" y="777240"/>
            <a:ext cx="164592" cy="164592"/>
          </a:xfrm>
          <a:prstGeom prst="ellipse">
            <a:avLst/>
          </a:prstGeom>
          <a:solidFill>
            <a:srgbClr val="FF5F57"/>
          </a:solidFill>
          <a:ln/>
        </p:spPr>
        <p:txBody>
          <a:bodyPr/>
          <a:lstStyle/>
          <a:p>
            <a:endParaRPr lang="en-IN"/>
          </a:p>
        </p:txBody>
      </p:sp>
      <p:sp>
        <p:nvSpPr>
          <p:cNvPr id="9" name="Shape 7"/>
          <p:cNvSpPr/>
          <p:nvPr/>
        </p:nvSpPr>
        <p:spPr>
          <a:xfrm>
            <a:off x="731520" y="777240"/>
            <a:ext cx="164592" cy="164592"/>
          </a:xfrm>
          <a:prstGeom prst="ellipse">
            <a:avLst/>
          </a:prstGeom>
          <a:solidFill>
            <a:srgbClr val="FEBC2E"/>
          </a:solidFill>
          <a:ln/>
        </p:spPr>
        <p:txBody>
          <a:bodyPr/>
          <a:lstStyle/>
          <a:p>
            <a:endParaRPr lang="en-IN"/>
          </a:p>
        </p:txBody>
      </p:sp>
      <p:sp>
        <p:nvSpPr>
          <p:cNvPr id="10" name="Shape 8"/>
          <p:cNvSpPr/>
          <p:nvPr/>
        </p:nvSpPr>
        <p:spPr>
          <a:xfrm>
            <a:off x="960120" y="777240"/>
            <a:ext cx="164592" cy="164592"/>
          </a:xfrm>
          <a:prstGeom prst="ellipse">
            <a:avLst/>
          </a:prstGeom>
          <a:solidFill>
            <a:srgbClr val="28C840"/>
          </a:solidFill>
          <a:ln/>
        </p:spPr>
        <p:txBody>
          <a:bodyPr/>
          <a:lstStyle/>
          <a:p>
            <a:endParaRPr lang="en-IN"/>
          </a:p>
        </p:txBody>
      </p:sp>
      <p:sp>
        <p:nvSpPr>
          <p:cNvPr id="11" name="Shape 9"/>
          <p:cNvSpPr/>
          <p:nvPr/>
        </p:nvSpPr>
        <p:spPr>
          <a:xfrm>
            <a:off x="1371600" y="777240"/>
            <a:ext cx="5029200" cy="201168"/>
          </a:xfrm>
          <a:prstGeom prst="rect">
            <a:avLst/>
          </a:prstGeom>
          <a:solidFill>
            <a:srgbClr val="FFFFFF"/>
          </a:solidFill>
          <a:ln w="6350">
            <a:solidFill>
              <a:srgbClr val="CCCCCC"/>
            </a:solidFill>
            <a:prstDash val="solid"/>
          </a:ln>
        </p:spPr>
        <p:txBody>
          <a:bodyPr/>
          <a:lstStyle/>
          <a:p>
            <a:endParaRPr lang="en-IN"/>
          </a:p>
        </p:txBody>
      </p:sp>
      <p:sp>
        <p:nvSpPr>
          <p:cNvPr id="12" name="Text 10"/>
          <p:cNvSpPr/>
          <p:nvPr/>
        </p:nvSpPr>
        <p:spPr>
          <a:xfrm>
            <a:off x="1389888" y="768096"/>
            <a:ext cx="4992624" cy="219456"/>
          </a:xfrm>
          <a:prstGeom prst="rect">
            <a:avLst/>
          </a:prstGeom>
          <a:noFill/>
          <a:ln/>
        </p:spPr>
        <p:txBody>
          <a:bodyPr wrap="square" rtlCol="0" anchor="ctr"/>
          <a:lstStyle/>
          <a:p>
            <a:pPr marL="0" indent="0">
              <a:buNone/>
            </a:pPr>
            <a:r>
              <a:rPr lang="en-US" sz="900" dirty="0">
                <a:solidFill>
                  <a:srgbClr val="607D8B"/>
                </a:solidFill>
                <a:latin typeface="Calibri" pitchFamily="34" charset="0"/>
                <a:ea typeface="Calibri" pitchFamily="34" charset="-122"/>
                <a:cs typeface="Calibri" pitchFamily="34" charset="-120"/>
              </a:rPr>
              <a:t>[https://your-project-demo-link.com]</a:t>
            </a:r>
            <a:endParaRPr lang="en-US" sz="900" dirty="0"/>
          </a:p>
        </p:txBody>
      </p:sp>
      <p:sp>
        <p:nvSpPr>
          <p:cNvPr id="13" name="Shape 11"/>
          <p:cNvSpPr/>
          <p:nvPr/>
        </p:nvSpPr>
        <p:spPr>
          <a:xfrm>
            <a:off x="3749040" y="1828800"/>
            <a:ext cx="1645920" cy="1645920"/>
          </a:xfrm>
          <a:prstGeom prst="ellipse">
            <a:avLst/>
          </a:prstGeom>
          <a:solidFill>
            <a:srgbClr val="1B3A8A">
              <a:alpha val="80000"/>
            </a:srgbClr>
          </a:solidFill>
          <a:ln/>
        </p:spPr>
        <p:txBody>
          <a:bodyPr/>
          <a:lstStyle/>
          <a:p>
            <a:endParaRPr lang="en-IN"/>
          </a:p>
        </p:txBody>
      </p:sp>
      <p:sp>
        <p:nvSpPr>
          <p:cNvPr id="14" name="Text 12"/>
          <p:cNvSpPr/>
          <p:nvPr/>
        </p:nvSpPr>
        <p:spPr>
          <a:xfrm>
            <a:off x="3749040" y="1828800"/>
            <a:ext cx="1645920" cy="1645920"/>
          </a:xfrm>
          <a:prstGeom prst="rect">
            <a:avLst/>
          </a:prstGeom>
          <a:noFill/>
          <a:ln/>
        </p:spPr>
        <p:txBody>
          <a:bodyPr wrap="square" rtlCol="0" anchor="ctr"/>
          <a:lstStyle/>
          <a:p>
            <a:pPr marL="0" indent="0" algn="ctr">
              <a:buNone/>
            </a:pPr>
            <a:r>
              <a:rPr lang="en-US" sz="4800" dirty="0">
                <a:solidFill>
                  <a:srgbClr val="FFFFFF"/>
                </a:solidFill>
              </a:rPr>
              <a:t>▶</a:t>
            </a:r>
            <a:endParaRPr lang="en-US" sz="4800" dirty="0"/>
          </a:p>
        </p:txBody>
      </p:sp>
      <p:sp>
        <p:nvSpPr>
          <p:cNvPr id="15" name="Text 13"/>
          <p:cNvSpPr/>
          <p:nvPr/>
        </p:nvSpPr>
        <p:spPr>
          <a:xfrm>
            <a:off x="914400" y="3794760"/>
            <a:ext cx="7315200" cy="594360"/>
          </a:xfrm>
          <a:prstGeom prst="rect">
            <a:avLst/>
          </a:prstGeom>
          <a:noFill/>
          <a:ln/>
        </p:spPr>
        <p:txBody>
          <a:bodyPr wrap="square" rtlCol="0" anchor="ctr"/>
          <a:lstStyle/>
          <a:p>
            <a:pPr marL="0" indent="0" algn="ctr">
              <a:buNone/>
            </a:pPr>
            <a:r>
              <a:rPr lang="en-US" sz="1100" i="1" dirty="0">
                <a:solidFill>
                  <a:srgbClr val="607D8B"/>
                </a:solidFill>
                <a:latin typeface="Calibri" pitchFamily="34" charset="0"/>
                <a:ea typeface="Calibri" pitchFamily="34" charset="-122"/>
                <a:cs typeface="Calibri" pitchFamily="34" charset="-120"/>
              </a:rPr>
              <a:t>[Insert your project demo video.</a:t>
            </a:r>
            <a:endParaRPr lang="en-US" sz="1100" dirty="0"/>
          </a:p>
          <a:p>
            <a:pPr marL="0" indent="0" algn="ctr">
              <a:buNone/>
            </a:pPr>
            <a:r>
              <a:rPr lang="en-US" sz="1100" i="1" dirty="0">
                <a:solidFill>
                  <a:srgbClr val="607D8B"/>
                </a:solidFill>
                <a:latin typeface="Calibri" pitchFamily="34" charset="0"/>
                <a:ea typeface="Calibri" pitchFamily="34" charset="-122"/>
                <a:cs typeface="Calibri" pitchFamily="34" charset="-120"/>
              </a:rPr>
              <a:t>You can embed a video your live project.]</a:t>
            </a:r>
            <a:endParaRPr lang="en-US" sz="1100" dirty="0"/>
          </a:p>
        </p:txBody>
      </p: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1" y="612064"/>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Conclusion</a:t>
            </a:r>
            <a:endParaRPr lang="en-US" sz="2000" dirty="0">
              <a:latin typeface="Lato" panose="020F0502020204030203" pitchFamily="34" charset="0"/>
              <a:cs typeface="Arial" panose="020B0604020202020204" pitchFamily="34" charset="0"/>
            </a:endParaRPr>
          </a:p>
        </p:txBody>
      </p:sp>
      <p:sp>
        <p:nvSpPr>
          <p:cNvPr id="14" name="Text 12"/>
          <p:cNvSpPr/>
          <p:nvPr/>
        </p:nvSpPr>
        <p:spPr>
          <a:xfrm>
            <a:off x="125486" y="971550"/>
            <a:ext cx="4446513" cy="3588097"/>
          </a:xfrm>
          <a:prstGeom prst="rect">
            <a:avLst/>
          </a:prstGeom>
          <a:noFill/>
          <a:ln/>
        </p:spPr>
        <p:txBody>
          <a:bodyPr wrap="square" rtlCol="0" anchor="t"/>
          <a:lstStyle/>
          <a:p>
            <a:pPr algn="just"/>
            <a:r>
              <a:rPr lang="en-US" sz="1400" dirty="0">
                <a:latin typeface="Times New Roman" panose="02020603050405020304" pitchFamily="18" charset="0"/>
                <a:cs typeface="Times New Roman" panose="02020603050405020304" pitchFamily="18" charset="0"/>
              </a:rPr>
              <a:t>Edu Pulse AI successfully converts student feedback into actionable insights using AI and Power BI. It performs sentiment analysis, generates faculty recommendations, and provides interactive dashboards.</a:t>
            </a:r>
          </a:p>
          <a:p>
            <a:pPr algn="just"/>
            <a:r>
              <a:rPr lang="en-US" sz="1400" dirty="0">
                <a:latin typeface="Times New Roman" panose="02020603050405020304" pitchFamily="18" charset="0"/>
                <a:cs typeface="Times New Roman" panose="02020603050405020304" pitchFamily="18" charset="0"/>
              </a:rPr>
              <a:t>The project improves understanding of student satisfaction, identifies improvement areas, and supports data-driven decision-making. It offers a scalable solution for enhancing teaching quality and institutional performance</a:t>
            </a:r>
            <a:r>
              <a:rPr lang="en-US" sz="1200" dirty="0"/>
              <a:t>.</a:t>
            </a:r>
          </a:p>
          <a:p>
            <a:pPr algn="just"/>
            <a:endParaRPr lang="en-US" sz="1200" dirty="0">
              <a:latin typeface="Times New Roman" panose="02020603050405020304" pitchFamily="18" charset="0"/>
              <a:cs typeface="Times New Roman" panose="02020603050405020304" pitchFamily="18" charset="0"/>
            </a:endParaRPr>
          </a:p>
        </p:txBody>
      </p:sp>
      <p:sp>
        <p:nvSpPr>
          <p:cNvPr id="19" name="Text 17"/>
          <p:cNvSpPr/>
          <p:nvPr/>
        </p:nvSpPr>
        <p:spPr>
          <a:xfrm>
            <a:off x="5303520" y="3474720"/>
            <a:ext cx="3017520" cy="502920"/>
          </a:xfrm>
          <a:prstGeom prst="rect">
            <a:avLst/>
          </a:prstGeom>
          <a:noFill/>
          <a:ln/>
        </p:spPr>
        <p:txBody>
          <a:bodyPr wrap="square" rtlCol="0" anchor="ctr"/>
          <a:lstStyle/>
          <a:p>
            <a:pPr marL="0" indent="0" algn="ctr">
              <a:buNone/>
            </a:pPr>
            <a:r>
              <a:rPr lang="en-US" sz="1600" b="1" kern="0" spc="200" dirty="0">
                <a:solidFill>
                  <a:srgbClr val="FFFFFF"/>
                </a:solidFill>
                <a:latin typeface="Lato" panose="020F0502020204030203" pitchFamily="34" charset="0"/>
                <a:ea typeface="Calibri" pitchFamily="34" charset="-122"/>
                <a:cs typeface="Calibri" pitchFamily="34" charset="-120"/>
              </a:rPr>
              <a:t>CONCLUSION</a:t>
            </a:r>
            <a:endParaRPr lang="en-US" sz="1600" dirty="0">
              <a:latin typeface="Lato" panose="020F0502020204030203" pitchFamily="34" charset="0"/>
            </a:endParaRPr>
          </a:p>
        </p:txBody>
      </p:sp>
      <p:pic>
        <p:nvPicPr>
          <p:cNvPr id="20" name="Picture 19" descr="A blue circle with a pencil and paper with a star on it&#10;&#10;AI-generated content may be incorrect.">
            <a:extLst>
              <a:ext uri="{FF2B5EF4-FFF2-40B4-BE49-F238E27FC236}">
                <a16:creationId xmlns:a16="http://schemas.microsoft.com/office/drawing/2014/main" id="{BAE68F53-65EE-1751-E92D-7025D978B68E}"/>
              </a:ext>
            </a:extLst>
          </p:cNvPr>
          <p:cNvPicPr>
            <a:picLocks noChangeAspect="1"/>
          </p:cNvPicPr>
          <p:nvPr/>
        </p:nvPicPr>
        <p:blipFill>
          <a:blip r:embed="rId4">
            <a:duotone>
              <a:schemeClr val="accent1">
                <a:shade val="45000"/>
                <a:satMod val="135000"/>
              </a:schemeClr>
              <a:prstClr val="white"/>
            </a:duotone>
          </a:blip>
          <a:srcRect l="25397" t="26296" r="26825" b="29752"/>
          <a:stretch>
            <a:fillRect/>
          </a:stretch>
        </p:blipFill>
        <p:spPr>
          <a:xfrm>
            <a:off x="4898406" y="971550"/>
            <a:ext cx="3597456" cy="3309355"/>
          </a:xfrm>
          <a:prstGeom prst="rect">
            <a:avLst/>
          </a:prstGeom>
        </p:spPr>
      </p:pic>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4" name="Text 2"/>
          <p:cNvSpPr/>
          <p:nvPr/>
        </p:nvSpPr>
        <p:spPr>
          <a:xfrm>
            <a:off x="123247" y="613561"/>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Future Scope</a:t>
            </a:r>
            <a:endParaRPr lang="en-US" sz="2000" dirty="0">
              <a:latin typeface="Lato" panose="020F0502020204030203" pitchFamily="34" charset="0"/>
              <a:cs typeface="Arial" panose="020B0604020202020204" pitchFamily="34" charset="0"/>
            </a:endParaRPr>
          </a:p>
        </p:txBody>
      </p:sp>
      <p:sp>
        <p:nvSpPr>
          <p:cNvPr id="14" name="Text 12"/>
          <p:cNvSpPr/>
          <p:nvPr/>
        </p:nvSpPr>
        <p:spPr>
          <a:xfrm>
            <a:off x="123247" y="1082104"/>
            <a:ext cx="4114800" cy="2478976"/>
          </a:xfrm>
          <a:prstGeom prst="rect">
            <a:avLst/>
          </a:prstGeom>
          <a:noFill/>
          <a:ln/>
        </p:spPr>
        <p:txBody>
          <a:bodyPr wrap="square" rtlCol="0" anchor="t"/>
          <a:lstStyle/>
          <a:p>
            <a:pPr algn="just"/>
            <a:r>
              <a:rPr lang="en-US" sz="1100" dirty="0">
                <a:latin typeface="Times New Roman" panose="02020603050405020304" pitchFamily="18" charset="0"/>
                <a:cs typeface="Times New Roman" panose="02020603050405020304" pitchFamily="18" charset="0"/>
              </a:rPr>
              <a:t>The </a:t>
            </a:r>
            <a:r>
              <a:rPr lang="en-US" sz="1100" b="1" dirty="0">
                <a:latin typeface="Times New Roman" panose="02020603050405020304" pitchFamily="18" charset="0"/>
                <a:cs typeface="Times New Roman" panose="02020603050405020304" pitchFamily="18" charset="0"/>
              </a:rPr>
              <a:t>Edu Pulse AI</a:t>
            </a:r>
            <a:r>
              <a:rPr lang="en-US" sz="1100" dirty="0">
                <a:latin typeface="Times New Roman" panose="02020603050405020304" pitchFamily="18" charset="0"/>
                <a:cs typeface="Times New Roman" panose="02020603050405020304" pitchFamily="18" charset="0"/>
              </a:rPr>
              <a:t> project can be further enhanced by integrating </a:t>
            </a:r>
            <a:r>
              <a:rPr lang="en-US" sz="1100" b="1" dirty="0">
                <a:latin typeface="Times New Roman" panose="02020603050405020304" pitchFamily="18" charset="0"/>
                <a:cs typeface="Times New Roman" panose="02020603050405020304" pitchFamily="18" charset="0"/>
              </a:rPr>
              <a:t>real-time feedback collection</a:t>
            </a:r>
            <a:r>
              <a:rPr lang="en-US" sz="1100" dirty="0">
                <a:latin typeface="Times New Roman" panose="02020603050405020304" pitchFamily="18" charset="0"/>
                <a:cs typeface="Times New Roman" panose="02020603050405020304" pitchFamily="18" charset="0"/>
              </a:rPr>
              <a:t> through mobile apps and online portals. Future improvements may include </a:t>
            </a:r>
            <a:r>
              <a:rPr lang="en-US" sz="1100" b="1" dirty="0">
                <a:latin typeface="Times New Roman" panose="02020603050405020304" pitchFamily="18" charset="0"/>
                <a:cs typeface="Times New Roman" panose="02020603050405020304" pitchFamily="18" charset="0"/>
              </a:rPr>
              <a:t>advanced NLP models</a:t>
            </a:r>
            <a:r>
              <a:rPr lang="en-US" sz="1100" dirty="0">
                <a:latin typeface="Times New Roman" panose="02020603050405020304" pitchFamily="18" charset="0"/>
                <a:cs typeface="Times New Roman" panose="02020603050405020304" pitchFamily="18" charset="0"/>
              </a:rPr>
              <a:t> for better multilingual sentiment analysis and sarcasm detection to improve accuracy.</a:t>
            </a:r>
          </a:p>
          <a:p>
            <a:pPr algn="just"/>
            <a:r>
              <a:rPr lang="en-US" sz="1100" dirty="0">
                <a:latin typeface="Times New Roman" panose="02020603050405020304" pitchFamily="18" charset="0"/>
                <a:cs typeface="Times New Roman" panose="02020603050405020304" pitchFamily="18" charset="0"/>
              </a:rPr>
              <a:t>The system can also be scaled to integrate with </a:t>
            </a:r>
            <a:r>
              <a:rPr lang="en-US" sz="1100" b="1" dirty="0">
                <a:latin typeface="Times New Roman" panose="02020603050405020304" pitchFamily="18" charset="0"/>
                <a:cs typeface="Times New Roman" panose="02020603050405020304" pitchFamily="18" charset="0"/>
              </a:rPr>
              <a:t>Learning Management Systems (LMS)</a:t>
            </a:r>
            <a:r>
              <a:rPr lang="en-US" sz="1100" dirty="0">
                <a:latin typeface="Times New Roman" panose="02020603050405020304" pitchFamily="18" charset="0"/>
                <a:cs typeface="Times New Roman" panose="02020603050405020304" pitchFamily="18" charset="0"/>
              </a:rPr>
              <a:t> and institutional databases for automated data updates. Additional features such as </a:t>
            </a:r>
            <a:r>
              <a:rPr lang="en-US" sz="1100" b="1" dirty="0">
                <a:latin typeface="Times New Roman" panose="02020603050405020304" pitchFamily="18" charset="0"/>
                <a:cs typeface="Times New Roman" panose="02020603050405020304" pitchFamily="18" charset="0"/>
              </a:rPr>
              <a:t>predictive analytics</a:t>
            </a:r>
            <a:r>
              <a:rPr lang="en-US" sz="1100" dirty="0">
                <a:latin typeface="Times New Roman" panose="02020603050405020304" pitchFamily="18" charset="0"/>
                <a:cs typeface="Times New Roman" panose="02020603050405020304" pitchFamily="18" charset="0"/>
              </a:rPr>
              <a:t> can help identify at-risk students and forecast teaching effectiveness.</a:t>
            </a:r>
          </a:p>
          <a:p>
            <a:pPr algn="just"/>
            <a:r>
              <a:rPr lang="en-US" sz="1100" dirty="0">
                <a:latin typeface="Times New Roman" panose="02020603050405020304" pitchFamily="18" charset="0"/>
                <a:cs typeface="Times New Roman" panose="02020603050405020304" pitchFamily="18" charset="0"/>
              </a:rPr>
              <a:t>Further enhancements may include </a:t>
            </a:r>
            <a:r>
              <a:rPr lang="en-US" sz="1100" b="1" dirty="0">
                <a:latin typeface="Times New Roman" panose="02020603050405020304" pitchFamily="18" charset="0"/>
                <a:cs typeface="Times New Roman" panose="02020603050405020304" pitchFamily="18" charset="0"/>
              </a:rPr>
              <a:t>automated report generation</a:t>
            </a:r>
            <a:r>
              <a:rPr lang="en-US" sz="1100" dirty="0">
                <a:latin typeface="Times New Roman" panose="02020603050405020304" pitchFamily="18" charset="0"/>
                <a:cs typeface="Times New Roman" panose="02020603050405020304" pitchFamily="18" charset="0"/>
              </a:rPr>
              <a:t>, </a:t>
            </a:r>
            <a:r>
              <a:rPr lang="en-US" sz="1100" b="1" dirty="0">
                <a:latin typeface="Times New Roman" panose="02020603050405020304" pitchFamily="18" charset="0"/>
                <a:cs typeface="Times New Roman" panose="02020603050405020304" pitchFamily="18" charset="0"/>
              </a:rPr>
              <a:t>voice-based feedback analysis</a:t>
            </a:r>
            <a:r>
              <a:rPr lang="en-US" sz="1100" dirty="0">
                <a:latin typeface="Times New Roman" panose="02020603050405020304" pitchFamily="18" charset="0"/>
                <a:cs typeface="Times New Roman" panose="02020603050405020304" pitchFamily="18" charset="0"/>
              </a:rPr>
              <a:t>, and </a:t>
            </a:r>
            <a:r>
              <a:rPr lang="en-US" sz="1100" b="1" dirty="0">
                <a:latin typeface="Times New Roman" panose="02020603050405020304" pitchFamily="18" charset="0"/>
                <a:cs typeface="Times New Roman" panose="02020603050405020304" pitchFamily="18" charset="0"/>
              </a:rPr>
              <a:t>cross-institutional benchmarking dashboard.</a:t>
            </a:r>
            <a:endParaRPr lang="en-US" sz="1100" dirty="0">
              <a:latin typeface="Times New Roman" panose="02020603050405020304" pitchFamily="18" charset="0"/>
              <a:cs typeface="Times New Roman" panose="02020603050405020304" pitchFamily="18" charset="0"/>
            </a:endParaRPr>
          </a:p>
          <a:p>
            <a:pPr marL="0" indent="0" algn="just">
              <a:buNone/>
            </a:pPr>
            <a:endParaRPr lang="en-US" sz="1200"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412449DB-BF51-DAAE-EA83-F4C00896763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31635" y="879613"/>
            <a:ext cx="4512365" cy="3384274"/>
          </a:xfrm>
          <a:prstGeom prst="rect">
            <a:avLst/>
          </a:prstGeom>
        </p:spPr>
      </p:pic>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5" name="Text 3"/>
          <p:cNvSpPr/>
          <p:nvPr/>
        </p:nvSpPr>
        <p:spPr>
          <a:xfrm>
            <a:off x="914400" y="3017520"/>
            <a:ext cx="7315200" cy="411480"/>
          </a:xfrm>
          <a:prstGeom prst="rect">
            <a:avLst/>
          </a:prstGeom>
          <a:noFill/>
          <a:ln/>
        </p:spPr>
        <p:txBody>
          <a:bodyPr wrap="square" rtlCol="0" anchor="ctr"/>
          <a:lstStyle/>
          <a:p>
            <a:pPr marL="0" indent="0" algn="ctr">
              <a:buNone/>
            </a:pPr>
            <a:r>
              <a:rPr lang="en-US" sz="1400" kern="0" spc="200" dirty="0">
                <a:latin typeface="Lato" panose="020F0502020204030203" pitchFamily="34" charset="0"/>
                <a:ea typeface="Calibri" pitchFamily="34" charset="-122"/>
                <a:cs typeface="Arial" panose="020B0604020202020204" pitchFamily="34" charset="0"/>
              </a:rPr>
              <a:t>AICW Fellowship  |  Faculty Project Presentation 2026</a:t>
            </a:r>
            <a:endParaRPr lang="en-US" sz="1400" dirty="0">
              <a:latin typeface="Lato" panose="020F0502020204030203" pitchFamily="34" charset="0"/>
              <a:cs typeface="Arial" panose="020B0604020202020204" pitchFamily="34" charset="0"/>
            </a:endParaRPr>
          </a:p>
        </p:txBody>
      </p:sp>
      <p:sp>
        <p:nvSpPr>
          <p:cNvPr id="6" name="Text 4"/>
          <p:cNvSpPr/>
          <p:nvPr/>
        </p:nvSpPr>
        <p:spPr>
          <a:xfrm>
            <a:off x="914400" y="3566160"/>
            <a:ext cx="7315200" cy="320040"/>
          </a:xfrm>
          <a:prstGeom prst="rect">
            <a:avLst/>
          </a:prstGeom>
          <a:noFill/>
          <a:ln/>
        </p:spPr>
        <p:txBody>
          <a:bodyPr wrap="square" lIns="91440" tIns="45720" rIns="91440" bIns="45720" rtlCol="0" anchor="ctr"/>
          <a:lstStyle/>
          <a:p>
            <a:pPr marL="0" indent="0" algn="ctr">
              <a:buNone/>
            </a:pPr>
            <a:r>
              <a:rPr lang="en-US" sz="1100" dirty="0">
                <a:latin typeface="Lato" panose="020F0502020204030203" pitchFamily="34" charset="0"/>
                <a:ea typeface="Calibri"/>
                <a:cs typeface="Arial" panose="020B0604020202020204" pitchFamily="34" charset="0"/>
              </a:rPr>
              <a:t>  LinkedIn  |   </a:t>
            </a:r>
            <a:r>
              <a:rPr lang="en-US" sz="1100" dirty="0" err="1">
                <a:latin typeface="Lato" panose="020F0502020204030203" pitchFamily="34" charset="0"/>
                <a:ea typeface="Calibri"/>
                <a:cs typeface="Arial" panose="020B0604020202020204" pitchFamily="34" charset="0"/>
              </a:rPr>
              <a:t>Edunet</a:t>
            </a:r>
            <a:r>
              <a:rPr lang="en-US" sz="1100" dirty="0">
                <a:latin typeface="Lato" panose="020F0502020204030203" pitchFamily="34" charset="0"/>
                <a:ea typeface="Calibri"/>
                <a:cs typeface="Arial" panose="020B0604020202020204" pitchFamily="34" charset="0"/>
              </a:rPr>
              <a:t> Foundation</a:t>
            </a:r>
            <a:endParaRPr lang="en-US" sz="1100" dirty="0">
              <a:latin typeface="Lato" panose="020F0502020204030203" pitchFamily="34" charset="0"/>
              <a:cs typeface="Arial" panose="020B0604020202020204" pitchFamily="34" charset="0"/>
            </a:endParaRPr>
          </a:p>
        </p:txBody>
      </p:sp>
      <p:sp>
        <p:nvSpPr>
          <p:cNvPr id="9" name="TextBox 4">
            <a:extLst>
              <a:ext uri="{FF2B5EF4-FFF2-40B4-BE49-F238E27FC236}">
                <a16:creationId xmlns:a16="http://schemas.microsoft.com/office/drawing/2014/main" id="{F7A740B1-0782-B37E-5F62-503024E32BC9}"/>
              </a:ext>
            </a:extLst>
          </p:cNvPr>
          <p:cNvSpPr txBox="1"/>
          <p:nvPr/>
        </p:nvSpPr>
        <p:spPr>
          <a:xfrm>
            <a:off x="2632982" y="1705295"/>
            <a:ext cx="3878036" cy="1175065"/>
          </a:xfrm>
          <a:prstGeom prst="rect">
            <a:avLst/>
          </a:prstGeom>
        </p:spPr>
        <p:txBody>
          <a:bodyPr wrap="square" lIns="0" tIns="0" rIns="0" bIns="0" rtlCol="0" anchor="t">
            <a:spAutoFit/>
          </a:bodyPr>
          <a:lstStyle/>
          <a:p>
            <a:pPr algn="ctr">
              <a:lnSpc>
                <a:spcPts val="10686"/>
              </a:lnSpc>
            </a:pPr>
            <a:r>
              <a:rPr lang="en-US" sz="5000" b="1" dirty="0">
                <a:solidFill>
                  <a:srgbClr val="0D358D"/>
                </a:solidFill>
                <a:latin typeface="Lato" panose="020F0502020204030203" pitchFamily="34" charset="0"/>
                <a:ea typeface="Aileron Ultra-Bold"/>
                <a:cs typeface="Arial" panose="020B0604020202020204" pitchFamily="34" charset="0"/>
                <a:sym typeface="Aileron Ultra-Bold"/>
              </a:rPr>
              <a:t>Thank You</a:t>
            </a:r>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OFFICE THEME" val="ROGxgyxs"/>
  <p:tag name="ARTICULATE_PROJECT_OPEN" val="0"/>
  <p:tag name="ARTICULATE_SLIDE_COUNT" val="1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410</TotalTime>
  <Words>985</Words>
  <Application>Microsoft Office PowerPoint</Application>
  <PresentationFormat>On-screen Show (16:9)</PresentationFormat>
  <Paragraphs>79</Paragraphs>
  <Slides>11</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Lato</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AICW Student Project Presentation Template 2026</dc:title>
  <dc:subject>PptxGenJS Presentation</dc:subject>
  <dc:creator>PptxGenJS</dc:creator>
  <cp:lastModifiedBy>Poonam Sharma</cp:lastModifiedBy>
  <cp:revision>41</cp:revision>
  <dcterms:created xsi:type="dcterms:W3CDTF">2026-02-18T09:17:23Z</dcterms:created>
  <dcterms:modified xsi:type="dcterms:W3CDTF">2026-04-23T13:50:02Z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1F7F540C-1CAD-4091-84DE-558331FD12BA</vt:lpwstr>
  </property>
  <property fmtid="{D5CDD505-2E9C-101B-9397-08002B2CF9AE}" pid="3" name="ArticulatePath">
    <vt:lpwstr>https://edunetfoundationorg-my.sharepoint.com/personal/kaisar_edunetfoundation_org/Documents/Task/AICW/Student project/AI Fellowship Project Template2026 (1)</vt:lpwstr>
  </property>
</Properties>
</file>